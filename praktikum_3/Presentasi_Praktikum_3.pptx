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6a3df8d7-dc4c-81e7-bcef-f70c3fd67c55}">
          <p14:sldIdLst>
            <p14:sldId id="256"/>
            <p14:sldId id="257"/>
          </p14:sldIdLst>
        </p14:section>
        <p14:section name="Konsep" id="{8363ad77-b1bc-1072-d860-f7dead4513c3}">
          <p14:sldIdLst>
            <p14:sldId id="258"/>
            <p14:sldId id="259"/>
          </p14:sldIdLst>
        </p14:section>
        <p14:section name="Implementasi" id="{9c671fce-03be-0d65-3816-71d4a7eb03ad}">
          <p14:sldIdLst>
            <p14:sldId id="260"/>
            <p14:sldId id="261"/>
            <p14:sldId id="262"/>
            <p14:sldId id="263"/>
          </p14:sldIdLst>
        </p14:section>
        <p14:section name="Hasil" id="{6580e4f6-909d-27b3-7c0e-b88eff2ebccb}">
          <p14:sldIdLst>
            <p14:sldId id="264"/>
            <p14:sldId id="265"/>
          </p14:sldIdLst>
        </p14:section>
        <p14:section name="Penutup" id="{f840b209-10eb-d537-b0a8-f3585e037334}">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Sebutkan nama dan topik: praktikum 3 membahas pengiriman pesan lewat UDP dengan server yang memakai beberapa thread. Dua kata kunci hari ini adalah UDP dan multi-threading. Pesan kuncinya: server bisa menerima pesan dan mengirim pengumuman berkala pada saat yang sama, tanpa saling menunggu.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dua program. Server punya dua tugas yang berjalan bersamaan: menerima pesan lalu membalas ACK, dan mengirim pengumuman tiap 5 detik ke semua client yang sudah terdaftar. Client juga dua thread supaya bisa menerima pengumuman kapan saja. Empat konsep di bawah akan dibahas: UDP, multi-threading, Lock, dan heartbeat yang menjadi tugas mandiri.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dengan Praktikum 1. TCP berorientasi koneksi: ada handshake, ada accept, dan kita tahu kalau lawan menutup koneksi. UDP tidak punya koneksi, setiap pesan adalah datagram yang berdiri sendiri. Karena itu server UDP cukup bind lalu recvfrom, dan siapa pengirimnya diketahui dari alamat yang dikembalikan recvfrom. Baris terakhir tabel adalah kunci untuk soal 4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 dari kiri. Client mengirim pesan, main thread menerima lewat recvfrom, mendaftarkan alamat client ke known_clients, lalu membalas ACK. Di sisi lain, thread pengumuman membaca known_clients dan mengirim pengumuman ke setiap alamat. Dua thread menyentuh known_clients, itu sebabnya ada clients_lock. Keduanya memakai satu socket yang sama. Pengiriman dari dua thread aman karena setiap sendto adalah satu datagram utuh.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inti dari soal 1. recvfrom mengembalikan dua hal, datanya dan alamat pengirimnya. Alamat itu yang kita simpan sebagai identitas client, dan yang kita pakai di sendto untuk membalas. Di TCP, accept memberi socket khusus untuk tiap client. Di UDP tidak ada, jadi alamat harus disebut di setiap sendto. Kemungkinan pertanyaan: kenapa tidak ada listen? Karena listen dan accept hanya untuk menyiapkan dan menerima koneksi, sedangkan UDP tidak punya koneksi.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 ini berjalan di latar belakang. Tiap 5 detik ia menyalin daftar client selama dikunci, melepas kunci, lalu mengirim pengumuman ke semua alamat. Menyalin dulu itu penting: kunci hanya dipegang sebentar sehingga main thread tidak ikut tertahan oleh proses kirim. daemon true membuat thread ini otomatis berhenti saat program utama berhenti. Soal 3: kalau time.sleep lima detik ini ada di main loop, server tidak bisa menerima atau membalas pesan selama tidur. Kita bisa buktikan dengan memindahkan kodenya sebentar.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thread menyentuh known_clients: main thread menambah, announcer membaca. Tanpa Lock, pembacaan bisa terjadi di tengah perubahan. Di eksperimen kecil yang saya buat, tanpa Lock gagal dengan RuntimeError set changed size during iteration, dengan Lock aman. Di server yang sebenarnya, kuncinya dipakai di dua tempat: saat mendaftarkan client dan saat menyalin daftar. Kemungkinan pertanyaan: apa bahayanya kalau dua thread mengubah data bersamaan? Jawab: data bisa rusak atau program error, dan hasilnya tidak bisa diprediksi karena tergantung urutan jadwal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juga butuh dua thread. Pengumuman server datang kapan saja, bukan sebagai balasan atas pesan kita. Kalau hanya satu thread, program berhenti di input() menunggu ketikan dan tidak bisa menerima apa pun. Jadi thread utama mengurus keyboard dan pengiriman, thread penerima terus mendengarkan dan mencetak. Keduanya memakai satu socket. Client juga melakukan bind ke port 0 supaya sistem operasi memilihkan port kosong, dan thread penerima punya socket yang siap mendengarkan.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jalannya program dengan 3 terminal. Di kiri log server: awalnya belum ada client, lalu client pertama terdaftar dan pengumuman nomor 1 dikirim ke 1 client. Setelah client kedua bergabung, pengumuman nomor 2 dikirim ke 2 client. Di kanan layar client 1: ACK, lalu pengumuman yang datang sendiri. Sebaiknya ganti slide ini dengan screenshot terminalmu sendiri saat demo, dan jalankan demo langsung kalau waktunya cukup.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soal 4. Di TCP, kalau client mati, server langsung tahu lewat recv yang mengembalikan b kosong atau error. Di UDP tidak ada koneksi, jadi tidak ada yang putus. Dari uji saya, setelah client dimatikan paksa, log announcer tetap menulis pengumuman dikirim ke 1 client. Server tidak tahu apa pun. Karena itu aplikasi harus punya mekanisme sendiri, misalnya heartbeat. Catatan: di Windows ada perilaku khusus, pengiriman ke client mati bisa memicu ConnectionResetError saat recvfrom berikutnya. Itu sudah ditangani dengan try except supaya server tidak berhenti. Sebaiknya jalankan percobaan ini sendiri di laptop dan sebutkan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Tugas mandiri: hapus client yang diam lebih dari 30 detik. Perubahannya kecil. Pertama, known_clients berubah dari set menjadi dict yang menyimpan waktu terakhir aktif. Kedua, setiap pesan memperbarui waktu itu. Ketiga, satu thread tambahan mengecek tiap detik dan menghapus yang kadaluarsa. Pencarian dan penghapusan dilakukan dalam satu blok terkunci supaya client yang baru saja mengirim pesan tidak ikut terhapus. Waktu memakai time.monotonic karena tidak terpengaruh perubahan jam sistem. Untuk demo, jalankan dengan opsi timeout 10 detik supaya tidak menunggu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poin penutup. Satu: UDP tanpa koneksi, cukup bind lalu recvfrom dan sendto. Dua: dua thread membuat server melakukan dua pekerjaan sekaligus, dan Lock menjaga daftar client. Tiga: UDP tidak menjamin dan tidak memberi tahu, sehingga heartbeat dibuat sendiri oleh aplikasi. Lalu buka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640080" y="1097280"/>
            <a:ext cx="5120640" cy="17373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ph idx="102" type="body" hasCustomPrompt="1"/>
          </p:nvPr>
        </p:nvSpPr>
        <p:spPr>
          <a:xfrm>
            <a:off x="640080" y="2971800"/>
            <a:ext cx="4937760" cy="4114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1097280"/>
            <a:ext cx="5120640" cy="1737360"/>
          </a:xfrm>
          <a:prstGeom prst="rect">
            <a:avLst/>
          </a:prstGeom>
          <a:noFill/>
          <a:ln/>
        </p:spPr>
        <p:txBody>
          <a:bodyPr wrap="square" lIns="0" tIns="0" rIns="0" bIns="0" rtlCol="0" anchor="b"/>
          <a:lstStyle/>
          <a:p>
            <a:pPr algn="l" indent="0" marL="0">
              <a:buNone/>
            </a:pPr>
            <a:r>
              <a:rPr lang="en-US" sz="3600" b="1" dirty="0">
                <a:solidFill>
                  <a:schemeClr val="bg1"/>
                </a:solidFill>
              </a:rPr>
              <a:t>Praktikum 3: UDP</a:t>
            </a:r>
            <a:endParaRPr lang="en-US" sz="3600" dirty="0"/>
          </a:p>
          <a:p>
            <a:pPr algn="l" indent="0" marL="0">
              <a:buNone/>
            </a:pPr>
            <a:r>
              <a:rPr lang="en-US" sz="3600" b="1" dirty="0">
                <a:solidFill>
                  <a:schemeClr val="bg1"/>
                </a:solidFill>
              </a:rPr>
              <a:t>Asinkron dengan</a:t>
            </a:r>
            <a:endParaRPr lang="en-US" sz="3600" dirty="0"/>
          </a:p>
          <a:p>
            <a:pPr algn="l" indent="0" marL="0">
              <a:buNone/>
            </a:pPr>
            <a:r>
              <a:rPr lang="en-US" sz="3600" b="1" dirty="0">
                <a:solidFill>
                  <a:schemeClr val="bg1"/>
                </a:solidFill>
              </a:rPr>
              <a:t>Multi-Threading</a:t>
            </a:r>
            <a:endParaRPr lang="en-US" sz="3600" dirty="0"/>
          </a:p>
        </p:txBody>
      </p:sp>
      <p:sp>
        <p:nvSpPr>
          <p:cNvPr id="3" name="Text 1"/>
          <p:cNvSpPr/>
          <p:nvPr>
            <p:ph idx="102" type="body" hasCustomPrompt="1"/>
          </p:nvPr>
        </p:nvSpPr>
        <p:spPr>
          <a:xfrm>
            <a:off x="640080" y="2971800"/>
            <a:ext cx="4937760" cy="411480"/>
          </a:xfrm>
          <a:prstGeom prst="rect">
            <a:avLst/>
          </a:prstGeom>
          <a:noFill/>
          <a:ln/>
        </p:spPr>
        <p:txBody>
          <a:bodyPr wrap="square" lIns="0" tIns="0" rIns="0" bIns="0" rtlCol="0" anchor="t"/>
          <a:lstStyle/>
          <a:p>
            <a:pPr algn="l" indent="0" marL="0">
              <a:buNone/>
            </a:pPr>
            <a:r>
              <a:rPr lang="en-US" sz="1800" dirty="0">
                <a:solidFill>
                  <a:schemeClr val="accent6"/>
                </a:solidFill>
              </a:rPr>
              <a:t>Mata Kuliah Network Programming</a:t>
            </a:r>
            <a:endParaRPr lang="en-US" sz="1800" dirty="0"/>
          </a:p>
        </p:txBody>
      </p:sp>
      <p:sp>
        <p:nvSpPr>
          <p:cNvPr id="4" name="Identitas penyaji"/>
          <p:cNvSpPr txBox="1"/>
          <p:nvPr/>
        </p:nvSpPr>
        <p:spPr>
          <a:xfrm>
            <a:off x="640080" y="3657600"/>
            <a:ext cx="4937760" cy="868680"/>
          </a:xfrm>
          <a:prstGeom prst="rect">
            <a:avLst/>
          </a:prstGeom>
          <a:noFill/>
          <a:ln/>
        </p:spPr>
        <p:txBody>
          <a:bodyPr wrap="square" lIns="0" tIns="0" rIns="0" bIns="0" rtlCol="0" anchor="t"/>
          <a:lstStyle/>
          <a:p>
            <a:pPr indent="0" marL="0">
              <a:buNone/>
            </a:pPr>
            <a:r>
              <a:rPr lang="en-US" sz="1400" b="1" dirty="0">
                <a:solidFill>
                  <a:schemeClr val="accent6"/>
                </a:solidFill>
              </a:rPr>
              <a:t>Van Jouvi</a:t>
            </a:r>
            <a:endParaRPr lang="en-US" sz="1400" dirty="0"/>
          </a:p>
          <a:p>
            <a:pPr indent="0" marL="0">
              <a:buNone/>
            </a:pPr>
            <a:r>
              <a:rPr lang="en-US" sz="1400" dirty="0">
                <a:solidFill>
                  <a:schemeClr val="accent6"/>
                </a:solidFill>
              </a:rPr>
              <a:t>NIM 2314000024</a:t>
            </a:r>
            <a:endParaRPr lang="en-US" sz="1400" dirty="0"/>
          </a:p>
          <a:p>
            <a:pPr indent="0" marL="0">
              <a:buNone/>
            </a:pPr>
            <a:r>
              <a:rPr lang="en-US" sz="1400" dirty="0">
                <a:solidFill>
                  <a:schemeClr val="accent6"/>
                </a:solidFill>
              </a:rPr>
              <a:t>Teknik Informatika, Perbanas Institute</a:t>
            </a:r>
            <a:endParaRPr lang="en-US" sz="1400" dirty="0"/>
          </a:p>
        </p:txBody>
      </p:sp>
      <p:sp>
        <p:nvSpPr>
          <p:cNvPr id="5" name="Kotak client"/>
          <p:cNvSpPr txBox="1"/>
          <p:nvPr/>
        </p:nvSpPr>
        <p:spPr>
          <a:xfrm>
            <a:off x="6035040" y="1508760"/>
            <a:ext cx="2468880" cy="868680"/>
          </a:xfrm>
          <a:prstGeom prst="roundRect">
            <a:avLst>
              <a:gd name="adj" fmla="val 10526"/>
            </a:avLst>
          </a:prstGeom>
          <a:solidFill>
            <a:schemeClr val="accent1"/>
          </a:solidFill>
          <a:ln/>
        </p:spPr>
        <p:txBody>
          <a:bodyPr wrap="square" rtlCol="0" anchor="ctr"/>
          <a:lstStyle/>
          <a:p>
            <a:pPr algn="ctr" indent="0" marL="0">
              <a:buNone/>
            </a:pPr>
            <a:r>
              <a:rPr lang="en-US" sz="2200" b="1" dirty="0">
                <a:solidFill>
                  <a:schemeClr val="tx2"/>
                </a:solidFill>
              </a:rPr>
              <a:t>Client</a:t>
            </a:r>
            <a:endParaRPr lang="en-US" sz="2200" dirty="0"/>
          </a:p>
        </p:txBody>
      </p:sp>
      <p:sp>
        <p:nvSpPr>
          <p:cNvPr id="6" name="Panah putus-putus"/>
          <p:cNvSpPr/>
          <p:nvPr/>
        </p:nvSpPr>
        <p:spPr>
          <a:xfrm>
            <a:off x="7269480" y="2514600"/>
            <a:ext cx="0" cy="731520"/>
          </a:xfrm>
          <a:prstGeom prst="line">
            <a:avLst/>
          </a:prstGeom>
          <a:noFill/>
          <a:ln w="31750">
            <a:solidFill>
              <a:schemeClr val="accent6"/>
            </a:solidFill>
            <a:prstDash val="dash"/>
            <a:headEnd type="triangle"/>
            <a:tailEnd type="triangle"/>
          </a:ln>
        </p:spPr>
      </p:sp>
      <p:sp>
        <p:nvSpPr>
          <p:cNvPr id="7" name="Label UDP"/>
          <p:cNvSpPr txBox="1"/>
          <p:nvPr/>
        </p:nvSpPr>
        <p:spPr>
          <a:xfrm>
            <a:off x="7406640" y="2697480"/>
            <a:ext cx="914400" cy="365760"/>
          </a:xfrm>
          <a:prstGeom prst="rect">
            <a:avLst/>
          </a:prstGeom>
          <a:noFill/>
          <a:ln/>
        </p:spPr>
        <p:txBody>
          <a:bodyPr wrap="square" lIns="0" tIns="0" rIns="0" bIns="0" rtlCol="0" anchor="ctr"/>
          <a:lstStyle/>
          <a:p>
            <a:pPr indent="0" marL="0">
              <a:buNone/>
            </a:pPr>
            <a:r>
              <a:rPr lang="en-US" sz="1400" b="1" dirty="0">
                <a:solidFill>
                  <a:schemeClr val="accent6"/>
                </a:solidFill>
              </a:rPr>
              <a:t>UDP</a:t>
            </a:r>
            <a:endParaRPr lang="en-US" sz="1400" dirty="0"/>
          </a:p>
        </p:txBody>
      </p:sp>
      <p:sp>
        <p:nvSpPr>
          <p:cNvPr id="8" name="Kotak server"/>
          <p:cNvSpPr txBox="1"/>
          <p:nvPr/>
        </p:nvSpPr>
        <p:spPr>
          <a:xfrm>
            <a:off x="6035040" y="3383280"/>
            <a:ext cx="2468880" cy="868680"/>
          </a:xfrm>
          <a:prstGeom prst="roundRect">
            <a:avLst>
              <a:gd name="adj" fmla="val 10526"/>
            </a:avLst>
          </a:prstGeom>
          <a:solidFill>
            <a:schemeClr val="bg2"/>
          </a:solidFill>
          <a:ln/>
        </p:spPr>
        <p:txBody>
          <a:bodyPr wrap="square" rtlCol="0" anchor="ctr"/>
          <a:lstStyle/>
          <a:p>
            <a:pPr algn="ctr" indent="0" marL="0">
              <a:buNone/>
            </a:pPr>
            <a:r>
              <a:rPr lang="en-US" sz="2200" b="1" dirty="0">
                <a:solidFill>
                  <a:schemeClr val="tx2"/>
                </a:solidFill>
              </a:rPr>
              <a:t>Server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Apa yang dikerjakan</a:t>
            </a:r>
            <a:endParaRPr lang="en-US" sz="3000" dirty="0"/>
          </a:p>
        </p:txBody>
      </p:sp>
      <p:sp>
        <p:nvSpPr>
          <p:cNvPr id="3" name="Pengantar"/>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600" dirty="0">
                <a:solidFill>
                  <a:schemeClr val="tx1"/>
                </a:solidFill>
              </a:rPr>
              <a:t>Server UDP yang menerima pesan dan sekaligus mengirim pengumuman berkala ke semua client.</a:t>
            </a:r>
            <a:endParaRPr lang="en-US" sz="1600" dirty="0"/>
          </a:p>
        </p:txBody>
      </p:sp>
      <p:sp>
        <p:nvSpPr>
          <p:cNvPr id="4" name="Kartu udp_threaded_server.py"/>
          <p:cNvSpPr/>
          <p:nvPr/>
        </p:nvSpPr>
        <p:spPr>
          <a:xfrm>
            <a:off x="457200" y="1691640"/>
            <a:ext cx="3977640" cy="1828800"/>
          </a:xfrm>
          <a:prstGeom prst="roundRect">
            <a:avLst>
              <a:gd name="adj" fmla="val 4000"/>
            </a:avLst>
          </a:prstGeom>
          <a:solidFill>
            <a:schemeClr val="bg2"/>
          </a:solidFill>
          <a:ln w="12700">
            <a:solidFill>
              <a:schemeClr val="bg2"/>
            </a:solidFill>
            <a:prstDash val="solid"/>
          </a:ln>
        </p:spPr>
      </p:sp>
      <p:sp>
        <p:nvSpPr>
          <p:cNvPr id="5" name="Nama udp_threaded_server.py"/>
          <p:cNvSpPr txBox="1"/>
          <p:nvPr/>
        </p:nvSpPr>
        <p:spPr>
          <a:xfrm>
            <a:off x="685800" y="1810512"/>
            <a:ext cx="3520440" cy="36576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udp_threaded_server.py</a:t>
            </a:r>
            <a:endParaRPr lang="en-US" sz="1600" dirty="0"/>
          </a:p>
        </p:txBody>
      </p:sp>
      <p:sp>
        <p:nvSpPr>
          <p:cNvPr id="6" name="Fungsi udp_threaded_server.py"/>
          <p:cNvSpPr txBox="1"/>
          <p:nvPr/>
        </p:nvSpPr>
        <p:spPr>
          <a:xfrm>
            <a:off x="685800" y="2240280"/>
            <a:ext cx="35204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Menerima pesan dan membalas ACK</a:t>
            </a:r>
            <a:endParaRPr lang="en-US" sz="1400" dirty="0"/>
          </a:p>
          <a:p>
            <a:pPr marL="342900" indent="-342900">
              <a:spcAft>
                <a:spcPts val="600"/>
              </a:spcAft>
              <a:buSzPct val="100000"/>
              <a:buChar char="•"/>
            </a:pPr>
            <a:r>
              <a:rPr lang="en-US" sz="1400" dirty="0">
                <a:solidFill>
                  <a:schemeClr val="tx1"/>
                </a:solidFill>
              </a:rPr>
              <a:t>Thread pengumuman tiap 5 detik</a:t>
            </a:r>
            <a:endParaRPr lang="en-US" sz="1400" dirty="0"/>
          </a:p>
          <a:p>
            <a:pPr marL="342900" indent="-342900">
              <a:spcAft>
                <a:spcPts val="600"/>
              </a:spcAft>
              <a:buSzPct val="100000"/>
              <a:buChar char="•"/>
            </a:pPr>
            <a:r>
              <a:rPr lang="en-US" sz="1400" dirty="0">
                <a:solidFill>
                  <a:schemeClr val="tx1"/>
                </a:solidFill>
              </a:rPr>
              <a:t>Daftar client dijaga Lock</a:t>
            </a:r>
            <a:endParaRPr lang="en-US" sz="1400" dirty="0"/>
          </a:p>
        </p:txBody>
      </p:sp>
      <p:sp>
        <p:nvSpPr>
          <p:cNvPr id="7" name="Kartu udp_client.py"/>
          <p:cNvSpPr/>
          <p:nvPr/>
        </p:nvSpPr>
        <p:spPr>
          <a:xfrm>
            <a:off x="4709160" y="1691640"/>
            <a:ext cx="3977640" cy="1828800"/>
          </a:xfrm>
          <a:prstGeom prst="roundRect">
            <a:avLst>
              <a:gd name="adj" fmla="val 4000"/>
            </a:avLst>
          </a:prstGeom>
          <a:solidFill>
            <a:schemeClr val="bg2"/>
          </a:solidFill>
          <a:ln w="12700">
            <a:solidFill>
              <a:schemeClr val="bg2"/>
            </a:solidFill>
            <a:prstDash val="solid"/>
          </a:ln>
        </p:spPr>
      </p:sp>
      <p:sp>
        <p:nvSpPr>
          <p:cNvPr id="8" name="Nama udp_client.py"/>
          <p:cNvSpPr txBox="1"/>
          <p:nvPr/>
        </p:nvSpPr>
        <p:spPr>
          <a:xfrm>
            <a:off x="4937760" y="1810512"/>
            <a:ext cx="3520440" cy="36576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udp_client.py</a:t>
            </a:r>
            <a:endParaRPr lang="en-US" sz="1600" dirty="0"/>
          </a:p>
        </p:txBody>
      </p:sp>
      <p:sp>
        <p:nvSpPr>
          <p:cNvPr id="9" name="Fungsi udp_client.py"/>
          <p:cNvSpPr txBox="1"/>
          <p:nvPr/>
        </p:nvSpPr>
        <p:spPr>
          <a:xfrm>
            <a:off x="4937760" y="2240280"/>
            <a:ext cx="35204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Mengirim pesan dari keyboard</a:t>
            </a:r>
            <a:endParaRPr lang="en-US" sz="1400" dirty="0"/>
          </a:p>
          <a:p>
            <a:pPr marL="342900" indent="-342900">
              <a:spcAft>
                <a:spcPts val="600"/>
              </a:spcAft>
              <a:buSzPct val="100000"/>
              <a:buChar char="•"/>
            </a:pPr>
            <a:r>
              <a:rPr lang="en-US" sz="1400" dirty="0">
                <a:solidFill>
                  <a:schemeClr val="tx1"/>
                </a:solidFill>
              </a:rPr>
              <a:t>Thread penerima: ACK, pengumuman</a:t>
            </a:r>
            <a:endParaRPr lang="en-US" sz="1400" dirty="0"/>
          </a:p>
          <a:p>
            <a:pPr marL="342900" indent="-342900">
              <a:spcAft>
                <a:spcPts val="600"/>
              </a:spcAft>
              <a:buSzPct val="100000"/>
              <a:buChar char="•"/>
            </a:pPr>
            <a:r>
              <a:rPr lang="en-US" sz="1400" dirty="0">
                <a:solidFill>
                  <a:schemeClr val="tx1"/>
                </a:solidFill>
              </a:rPr>
              <a:t>Ketik 'exit' untuk keluar</a:t>
            </a:r>
            <a:endParaRPr lang="en-US" sz="1400" dirty="0"/>
          </a:p>
        </p:txBody>
      </p:sp>
      <p:sp>
        <p:nvSpPr>
          <p:cNvPr id="10" name="Label konsep"/>
          <p:cNvSpPr txBox="1"/>
          <p:nvPr/>
        </p:nvSpPr>
        <p:spPr>
          <a:xfrm>
            <a:off x="457200" y="3749040"/>
            <a:ext cx="3657600" cy="274320"/>
          </a:xfrm>
          <a:prstGeom prst="rect">
            <a:avLst/>
          </a:prstGeom>
          <a:noFill/>
          <a:ln/>
        </p:spPr>
        <p:txBody>
          <a:bodyPr wrap="square" lIns="0" tIns="0" rIns="0" bIns="0" rtlCol="0" anchor="ctr"/>
          <a:lstStyle/>
          <a:p>
            <a:pPr indent="0" marL="0">
              <a:buNone/>
            </a:pPr>
            <a:r>
              <a:rPr lang="en-US" sz="1400" b="1" dirty="0">
                <a:solidFill>
                  <a:schemeClr val="tx2"/>
                </a:solidFill>
              </a:rPr>
              <a:t>Konsep yang diuji</a:t>
            </a:r>
            <a:endParaRPr lang="en-US" sz="1400" dirty="0"/>
          </a:p>
        </p:txBody>
      </p:sp>
      <p:sp>
        <p:nvSpPr>
          <p:cNvPr id="11" name="Chip UDP (SOCK_DGRAM)"/>
          <p:cNvSpPr txBox="1"/>
          <p:nvPr/>
        </p:nvSpPr>
        <p:spPr>
          <a:xfrm>
            <a:off x="457200" y="4114800"/>
            <a:ext cx="2011680" cy="365760"/>
          </a:xfrm>
          <a:prstGeom prst="roundRect">
            <a:avLst>
              <a:gd name="adj" fmla="val 45000"/>
            </a:avLst>
          </a:prstGeom>
          <a:solidFill>
            <a:schemeClr val="bg1"/>
          </a:solidFill>
          <a:ln w="15875">
            <a:solidFill>
              <a:schemeClr val="accent1"/>
            </a:solidFill>
          </a:ln>
        </p:spPr>
        <p:txBody>
          <a:bodyPr wrap="square" lIns="0" tIns="0" rIns="0" bIns="0" rtlCol="0" anchor="ctr"/>
          <a:lstStyle/>
          <a:p>
            <a:pPr algn="ctr" indent="0" marL="0">
              <a:buNone/>
            </a:pPr>
            <a:r>
              <a:rPr lang="en-US" sz="1400" dirty="0">
                <a:solidFill>
                  <a:schemeClr val="tx2"/>
                </a:solidFill>
              </a:rPr>
              <a:t>UDP (SOCK_DGRAM)</a:t>
            </a:r>
            <a:endParaRPr lang="en-US" sz="1400" dirty="0"/>
          </a:p>
        </p:txBody>
      </p:sp>
      <p:sp>
        <p:nvSpPr>
          <p:cNvPr id="12" name="Chip Multi-threading"/>
          <p:cNvSpPr txBox="1"/>
          <p:nvPr/>
        </p:nvSpPr>
        <p:spPr>
          <a:xfrm>
            <a:off x="2651760" y="4114800"/>
            <a:ext cx="1737360" cy="365760"/>
          </a:xfrm>
          <a:prstGeom prst="roundRect">
            <a:avLst>
              <a:gd name="adj" fmla="val 45000"/>
            </a:avLst>
          </a:prstGeom>
          <a:solidFill>
            <a:schemeClr val="bg1"/>
          </a:solidFill>
          <a:ln w="15875">
            <a:solidFill>
              <a:schemeClr val="accent1"/>
            </a:solidFill>
          </a:ln>
        </p:spPr>
        <p:txBody>
          <a:bodyPr wrap="square" lIns="0" tIns="0" rIns="0" bIns="0" rtlCol="0" anchor="ctr"/>
          <a:lstStyle/>
          <a:p>
            <a:pPr algn="ctr" indent="0" marL="0">
              <a:buNone/>
            </a:pPr>
            <a:r>
              <a:rPr lang="en-US" sz="1400" dirty="0">
                <a:solidFill>
                  <a:schemeClr val="tx2"/>
                </a:solidFill>
              </a:rPr>
              <a:t>Multi-threading</a:t>
            </a:r>
            <a:endParaRPr lang="en-US" sz="1400" dirty="0"/>
          </a:p>
        </p:txBody>
      </p:sp>
      <p:sp>
        <p:nvSpPr>
          <p:cNvPr id="13" name="Chip Lock"/>
          <p:cNvSpPr txBox="1"/>
          <p:nvPr/>
        </p:nvSpPr>
        <p:spPr>
          <a:xfrm>
            <a:off x="4572000" y="4114800"/>
            <a:ext cx="822960" cy="365760"/>
          </a:xfrm>
          <a:prstGeom prst="roundRect">
            <a:avLst>
              <a:gd name="adj" fmla="val 45000"/>
            </a:avLst>
          </a:prstGeom>
          <a:solidFill>
            <a:schemeClr val="bg1"/>
          </a:solidFill>
          <a:ln w="15875">
            <a:solidFill>
              <a:schemeClr val="accent1"/>
            </a:solidFill>
          </a:ln>
        </p:spPr>
        <p:txBody>
          <a:bodyPr wrap="square" lIns="0" tIns="0" rIns="0" bIns="0" rtlCol="0" anchor="ctr"/>
          <a:lstStyle/>
          <a:p>
            <a:pPr algn="ctr" indent="0" marL="0">
              <a:buNone/>
            </a:pPr>
            <a:r>
              <a:rPr lang="en-US" sz="1400" dirty="0">
                <a:solidFill>
                  <a:schemeClr val="tx2"/>
                </a:solidFill>
              </a:rPr>
              <a:t>Lock</a:t>
            </a:r>
            <a:endParaRPr lang="en-US" sz="1400" dirty="0"/>
          </a:p>
        </p:txBody>
      </p:sp>
      <p:sp>
        <p:nvSpPr>
          <p:cNvPr id="14" name="Chip Heartbeat"/>
          <p:cNvSpPr txBox="1"/>
          <p:nvPr/>
        </p:nvSpPr>
        <p:spPr>
          <a:xfrm>
            <a:off x="5577840" y="4114800"/>
            <a:ext cx="1280160" cy="365760"/>
          </a:xfrm>
          <a:prstGeom prst="roundRect">
            <a:avLst>
              <a:gd name="adj" fmla="val 45000"/>
            </a:avLst>
          </a:prstGeom>
          <a:solidFill>
            <a:schemeClr val="bg1"/>
          </a:solidFill>
          <a:ln w="15875">
            <a:solidFill>
              <a:schemeClr val="accent1"/>
            </a:solidFill>
          </a:ln>
        </p:spPr>
        <p:txBody>
          <a:bodyPr wrap="square" lIns="0" tIns="0" rIns="0" bIns="0" rtlCol="0" anchor="ctr"/>
          <a:lstStyle/>
          <a:p>
            <a:pPr algn="ctr" indent="0" marL="0">
              <a:buNone/>
            </a:pPr>
            <a:r>
              <a:rPr lang="en-US" sz="1400" dirty="0">
                <a:solidFill>
                  <a:schemeClr val="tx2"/>
                </a:solidFill>
              </a:rPr>
              <a:t>Heartbeat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UDP dibanding TCP</a:t>
            </a:r>
            <a:endParaRPr lang="en-US" sz="3000" dirty="0"/>
          </a:p>
        </p:txBody>
      </p:sp>
      <p:graphicFrame>
        <p:nvGraphicFramePr>
          <p:cNvPr id="4" name="Tabel UDP vs TCP"/>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2926080"/>
                <a:gridCol w="3108960"/>
              </a:tblGrid>
              <a:tr h="438912">
                <a:tc>
                  <a:txBody>
                    <a:bodyPr/>
                    <a:lstStyle/>
                    <a:p>
                      <a:pPr indent="0" marL="0">
                        <a:buNone/>
                      </a:pPr>
                      <a:r>
                        <a:rPr lang="en-US" sz="1400" b="1" dirty="0">
                          <a:solidFill>
                            <a:schemeClr val="bg1"/>
                          </a:solidFill>
                        </a:rPr>
                        <a:t>Hal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TCP (Praktikum 1)</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UDP (Praktikum 3)</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38912">
                <a:tc>
                  <a:txBody>
                    <a:bodyPr/>
                    <a:lstStyle/>
                    <a:p>
                      <a:pPr indent="0" marL="0">
                        <a:buNone/>
                      </a:pPr>
                      <a:r>
                        <a:rPr lang="en-US" sz="1400" b="1" dirty="0">
                          <a:solidFill>
                            <a:schemeClr val="tx1"/>
                          </a:solidFill>
                        </a:rPr>
                        <a:t>Jenis socket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SOCK_STREAM</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SOCK_DGRAM</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38912">
                <a:tc>
                  <a:txBody>
                    <a:bodyPr/>
                    <a:lstStyle/>
                    <a:p>
                      <a:pPr indent="0" marL="0">
                        <a:buNone/>
                      </a:pPr>
                      <a:r>
                        <a:rPr lang="en-US" sz="1400" b="1" dirty="0">
                          <a:solidFill>
                            <a:schemeClr val="tx1"/>
                          </a:solidFill>
                        </a:rPr>
                        <a:t>Koneksi</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Ada (handshake)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Tidak ada</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38912">
                <a:tc>
                  <a:txBody>
                    <a:bodyPr/>
                    <a:lstStyle/>
                    <a:p>
                      <a:pPr indent="0" marL="0">
                        <a:buNone/>
                      </a:pPr>
                      <a:r>
                        <a:rPr lang="en-US" sz="1400" b="1" dirty="0">
                          <a:solidFill>
                            <a:schemeClr val="tx1"/>
                          </a:solidFill>
                        </a:rPr>
                        <a:t>Sisi server</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bind, listen, accept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Cukup bind</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38912">
                <a:tc>
                  <a:txBody>
                    <a:bodyPr/>
                    <a:lstStyle/>
                    <a:p>
                      <a:pPr indent="0" marL="0">
                        <a:buNone/>
                      </a:pPr>
                      <a:r>
                        <a:rPr lang="en-US" sz="1400" b="1" dirty="0">
                          <a:solidFill>
                            <a:schemeClr val="tx1"/>
                          </a:solidFill>
                        </a:rPr>
                        <a:t>Kirim dan terima</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sendall() dan recv()</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sendto() dan recvfrom()</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38912">
                <a:tc>
                  <a:txBody>
                    <a:bodyPr/>
                    <a:lstStyle/>
                    <a:p>
                      <a:pPr indent="0" marL="0">
                        <a:buNone/>
                      </a:pPr>
                      <a:r>
                        <a:rPr lang="en-US" sz="1400" b="1" dirty="0">
                          <a:solidFill>
                            <a:schemeClr val="tx1"/>
                          </a:solidFill>
                        </a:rPr>
                        <a:t>Mengenali client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Socket conn dari accept()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Alamat dari recvfrom()</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38912">
                <a:tc>
                  <a:txBody>
                    <a:bodyPr/>
                    <a:lstStyle/>
                    <a:p>
                      <a:pPr indent="0" marL="0">
                        <a:buNone/>
                      </a:pPr>
                      <a:r>
                        <a:rPr lang="en-US" sz="1400" b="1" dirty="0">
                          <a:solidFill>
                            <a:schemeClr val="tx1"/>
                          </a:solidFill>
                        </a:rPr>
                        <a:t>Tahu lawan mati</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Ya</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Tidak</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Catatan UDP"/>
          <p:cNvSpPr txBox="1"/>
          <p:nvPr/>
        </p:nvSpPr>
        <p:spPr>
          <a:xfrm>
            <a:off x="457200" y="4434840"/>
            <a:ext cx="7680960" cy="274320"/>
          </a:xfrm>
          <a:prstGeom prst="rect">
            <a:avLst/>
          </a:prstGeom>
          <a:noFill/>
          <a:ln/>
        </p:spPr>
        <p:txBody>
          <a:bodyPr wrap="square" lIns="0" tIns="0" rIns="0" bIns="0" rtlCol="0" anchor="ctr"/>
          <a:lstStyle/>
          <a:p>
            <a:pPr indent="0" marL="0">
              <a:buNone/>
            </a:pPr>
            <a:r>
              <a:rPr lang="en-US" sz="1400" i="1" dirty="0">
                <a:solidFill>
                  <a:schemeClr val="accent5"/>
                </a:solidFill>
              </a:rPr>
              <a:t>UDP mengirim datagram yang berdiri sendiri, tanpa koneksi dan tanpa jaminan sampai atau berurutan.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Arsitektur server</a:t>
            </a:r>
            <a:endParaRPr lang="en-US" sz="3000" dirty="0"/>
          </a:p>
        </p:txBody>
      </p:sp>
      <p:sp>
        <p:nvSpPr>
          <p:cNvPr id="3" name="Client 1"/>
          <p:cNvSpPr txBox="1"/>
          <p:nvPr/>
        </p:nvSpPr>
        <p:spPr>
          <a:xfrm>
            <a:off x="457200" y="1280160"/>
            <a:ext cx="1554480" cy="685800"/>
          </a:xfrm>
          <a:prstGeom prst="roundRect">
            <a:avLst>
              <a:gd name="adj" fmla="val 10667"/>
            </a:avLst>
          </a:prstGeom>
          <a:solidFill>
            <a:schemeClr val="accent1"/>
          </a:solidFill>
          <a:ln/>
        </p:spPr>
        <p:txBody>
          <a:bodyPr wrap="square" lIns="0" tIns="0" rIns="0" bIns="0" rtlCol="0" anchor="ctr"/>
          <a:lstStyle/>
          <a:p>
            <a:pPr algn="ctr" indent="0" marL="0">
              <a:buNone/>
            </a:pPr>
            <a:r>
              <a:rPr lang="en-US" sz="1400" b="1" dirty="0">
                <a:solidFill>
                  <a:schemeClr val="tx2"/>
                </a:solidFill>
              </a:rPr>
              <a:t>Client 1</a:t>
            </a:r>
            <a:endParaRPr lang="en-US" sz="1400" dirty="0"/>
          </a:p>
        </p:txBody>
      </p:sp>
      <p:sp>
        <p:nvSpPr>
          <p:cNvPr id="4" name="Panah Client 1"/>
          <p:cNvSpPr/>
          <p:nvPr/>
        </p:nvSpPr>
        <p:spPr>
          <a:xfrm>
            <a:off x="2057400" y="1623060"/>
            <a:ext cx="731520" cy="0"/>
          </a:xfrm>
          <a:prstGeom prst="line">
            <a:avLst/>
          </a:prstGeom>
          <a:noFill/>
          <a:ln w="25400">
            <a:solidFill>
              <a:schemeClr val="accent1"/>
            </a:solidFill>
            <a:prstDash val="solid"/>
            <a:headEnd type="triangle"/>
            <a:tailEnd type="triangle"/>
          </a:ln>
        </p:spPr>
      </p:sp>
      <p:sp>
        <p:nvSpPr>
          <p:cNvPr id="5" name="Client 2"/>
          <p:cNvSpPr txBox="1"/>
          <p:nvPr/>
        </p:nvSpPr>
        <p:spPr>
          <a:xfrm>
            <a:off x="457200" y="2286000"/>
            <a:ext cx="1554480" cy="685800"/>
          </a:xfrm>
          <a:prstGeom prst="roundRect">
            <a:avLst>
              <a:gd name="adj" fmla="val 10667"/>
            </a:avLst>
          </a:prstGeom>
          <a:solidFill>
            <a:schemeClr val="accent1"/>
          </a:solidFill>
          <a:ln/>
        </p:spPr>
        <p:txBody>
          <a:bodyPr wrap="square" lIns="0" tIns="0" rIns="0" bIns="0" rtlCol="0" anchor="ctr"/>
          <a:lstStyle/>
          <a:p>
            <a:pPr algn="ctr" indent="0" marL="0">
              <a:buNone/>
            </a:pPr>
            <a:r>
              <a:rPr lang="en-US" sz="1400" b="1" dirty="0">
                <a:solidFill>
                  <a:schemeClr val="tx2"/>
                </a:solidFill>
              </a:rPr>
              <a:t>Client 2</a:t>
            </a:r>
            <a:endParaRPr lang="en-US" sz="1400" dirty="0"/>
          </a:p>
        </p:txBody>
      </p:sp>
      <p:sp>
        <p:nvSpPr>
          <p:cNvPr id="6" name="Panah Client 2"/>
          <p:cNvSpPr/>
          <p:nvPr/>
        </p:nvSpPr>
        <p:spPr>
          <a:xfrm>
            <a:off x="2057400" y="2628900"/>
            <a:ext cx="731520" cy="0"/>
          </a:xfrm>
          <a:prstGeom prst="line">
            <a:avLst/>
          </a:prstGeom>
          <a:noFill/>
          <a:ln w="25400">
            <a:solidFill>
              <a:schemeClr val="accent1"/>
            </a:solidFill>
            <a:prstDash val="solid"/>
            <a:headEnd type="triangle"/>
            <a:tailEnd type="triangle"/>
          </a:ln>
        </p:spPr>
      </p:sp>
      <p:sp>
        <p:nvSpPr>
          <p:cNvPr id="7" name="Label pesan dan ACK"/>
          <p:cNvSpPr txBox="1"/>
          <p:nvPr/>
        </p:nvSpPr>
        <p:spPr>
          <a:xfrm>
            <a:off x="1783080" y="3063240"/>
            <a:ext cx="1280160" cy="274320"/>
          </a:xfrm>
          <a:prstGeom prst="rect">
            <a:avLst/>
          </a:prstGeom>
          <a:noFill/>
          <a:ln/>
        </p:spPr>
        <p:txBody>
          <a:bodyPr wrap="square" lIns="0" tIns="0" rIns="0" bIns="0" rtlCol="0" anchor="t"/>
          <a:lstStyle/>
          <a:p>
            <a:pPr algn="ctr" indent="0" marL="0">
              <a:buNone/>
            </a:pPr>
            <a:r>
              <a:rPr lang="en-US" sz="1200" dirty="0">
                <a:solidFill>
                  <a:schemeClr val="accent5"/>
                </a:solidFill>
              </a:rPr>
              <a:t>pesan dan ACK</a:t>
            </a:r>
            <a:endParaRPr lang="en-US" sz="1200" dirty="0"/>
          </a:p>
        </p:txBody>
      </p:sp>
      <p:sp>
        <p:nvSpPr>
          <p:cNvPr id="8" name="Kotak main thread"/>
          <p:cNvSpPr txBox="1"/>
          <p:nvPr/>
        </p:nvSpPr>
        <p:spPr>
          <a:xfrm>
            <a:off x="2834640" y="1280160"/>
            <a:ext cx="2651760" cy="1691640"/>
          </a:xfrm>
          <a:prstGeom prst="roundRect">
            <a:avLst>
              <a:gd name="adj" fmla="val 4324"/>
            </a:avLst>
          </a:prstGeom>
          <a:solidFill>
            <a:schemeClr val="bg2"/>
          </a:solidFill>
          <a:ln/>
        </p:spPr>
        <p:txBody>
          <a:bodyPr wrap="square" lIns="101600" tIns="101600" rIns="101600" bIns="101600" rtlCol="0" anchor="ctr"/>
          <a:lstStyle/>
          <a:p>
            <a:pPr algn="ctr" indent="0" marL="0">
              <a:buNone/>
            </a:pPr>
            <a:r>
              <a:rPr lang="en-US" sz="1400" b="1" dirty="0">
                <a:solidFill>
                  <a:schemeClr val="tx2"/>
                </a:solidFill>
              </a:rPr>
              <a:t>Main thread</a:t>
            </a:r>
            <a:endParaRPr lang="en-US" sz="1400" dirty="0"/>
          </a:p>
          <a:p>
            <a:pPr algn="ctr" indent="0" marL="0">
              <a:buNone/>
            </a:pPr>
            <a:r>
              <a:rPr lang="en-US" sz="1400" dirty="0">
                <a:solidFill>
                  <a:schemeClr val="tx2"/>
                </a:solidFill>
              </a:rPr>
              <a:t>recvfrom(), lalu sendto(ACK)</a:t>
            </a:r>
            <a:endParaRPr lang="en-US" sz="1400" dirty="0"/>
          </a:p>
        </p:txBody>
      </p:sp>
      <p:sp>
        <p:nvSpPr>
          <p:cNvPr id="9" name="Kotak known_clients"/>
          <p:cNvSpPr txBox="1"/>
          <p:nvPr/>
        </p:nvSpPr>
        <p:spPr>
          <a:xfrm>
            <a:off x="2834640" y="3429000"/>
            <a:ext cx="2651760" cy="868680"/>
          </a:xfrm>
          <a:prstGeom prst="roundRect">
            <a:avLst>
              <a:gd name="adj" fmla="val 8421"/>
            </a:avLst>
          </a:prstGeom>
          <a:solidFill>
            <a:schemeClr val="bg1"/>
          </a:solidFill>
          <a:ln w="19050">
            <a:solidFill>
              <a:schemeClr val="accent1"/>
            </a:solidFill>
          </a:ln>
        </p:spPr>
        <p:txBody>
          <a:bodyPr wrap="square" lIns="76200" tIns="76200" rIns="76200" bIns="76200" rtlCol="0" anchor="ctr"/>
          <a:lstStyle/>
          <a:p>
            <a:pPr algn="ctr" indent="0" marL="0">
              <a:buNone/>
            </a:pPr>
            <a:r>
              <a:rPr lang="en-US" sz="1400" b="1" dirty="0">
                <a:solidFill>
                  <a:schemeClr val="tx2"/>
                </a:solidFill>
                <a:latin typeface="Courier New" pitchFamily="34" charset="0"/>
                <a:ea typeface="Courier New" pitchFamily="34" charset="-122"/>
                <a:cs typeface="Courier New" pitchFamily="34" charset="-120"/>
              </a:rPr>
              <a:t>known_clients</a:t>
            </a:r>
            <a:endParaRPr lang="en-US" sz="1400" dirty="0"/>
          </a:p>
          <a:p>
            <a:pPr algn="ctr" indent="0" marL="0">
              <a:buNone/>
            </a:pPr>
            <a:r>
              <a:rPr lang="en-US" sz="1400" dirty="0">
                <a:solidFill>
                  <a:schemeClr val="tx2"/>
                </a:solidFill>
              </a:rPr>
              <a:t>dijaga clients_lock</a:t>
            </a:r>
            <a:endParaRPr lang="en-US" sz="1400" dirty="0"/>
          </a:p>
        </p:txBody>
      </p:sp>
      <p:sp>
        <p:nvSpPr>
          <p:cNvPr id="10" name="Panah daftarkan"/>
          <p:cNvSpPr/>
          <p:nvPr/>
        </p:nvSpPr>
        <p:spPr>
          <a:xfrm>
            <a:off x="4160520" y="3017520"/>
            <a:ext cx="0" cy="384048"/>
          </a:xfrm>
          <a:prstGeom prst="line">
            <a:avLst/>
          </a:prstGeom>
          <a:noFill/>
          <a:ln w="25400">
            <a:solidFill>
              <a:schemeClr val="accent1"/>
            </a:solidFill>
            <a:prstDash val="solid"/>
            <a:tailEnd type="triangle"/>
          </a:ln>
        </p:spPr>
      </p:sp>
      <p:sp>
        <p:nvSpPr>
          <p:cNvPr id="11" name="Label daftarkan"/>
          <p:cNvSpPr txBox="1"/>
          <p:nvPr/>
        </p:nvSpPr>
        <p:spPr>
          <a:xfrm>
            <a:off x="4251960" y="3017520"/>
            <a:ext cx="1188720" cy="365760"/>
          </a:xfrm>
          <a:prstGeom prst="rect">
            <a:avLst/>
          </a:prstGeom>
          <a:noFill/>
          <a:ln/>
        </p:spPr>
        <p:txBody>
          <a:bodyPr wrap="square" lIns="0" tIns="0" rIns="0" bIns="0" rtlCol="0" anchor="ctr"/>
          <a:lstStyle/>
          <a:p>
            <a:pPr indent="0" marL="0">
              <a:buNone/>
            </a:pPr>
            <a:r>
              <a:rPr lang="en-US" sz="1200" dirty="0">
                <a:solidFill>
                  <a:schemeClr val="accent5"/>
                </a:solidFill>
              </a:rPr>
              <a:t>daftarkan</a:t>
            </a:r>
            <a:endParaRPr lang="en-US" sz="1200" dirty="0"/>
          </a:p>
        </p:txBody>
      </p:sp>
      <p:sp>
        <p:nvSpPr>
          <p:cNvPr id="12" name="Kotak announcer"/>
          <p:cNvSpPr txBox="1"/>
          <p:nvPr/>
        </p:nvSpPr>
        <p:spPr>
          <a:xfrm>
            <a:off x="6035040" y="3429000"/>
            <a:ext cx="265176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2"/>
                </a:solidFill>
              </a:rPr>
              <a:t>Announcer thread</a:t>
            </a:r>
            <a:endParaRPr lang="en-US" sz="1400" dirty="0"/>
          </a:p>
          <a:p>
            <a:pPr algn="ctr" indent="0" marL="0">
              <a:buNone/>
            </a:pPr>
            <a:r>
              <a:rPr lang="en-US" sz="1400" dirty="0">
                <a:solidFill>
                  <a:schemeClr val="tx2"/>
                </a:solidFill>
              </a:rPr>
              <a:t>sendto() tiap 5 detik</a:t>
            </a:r>
            <a:endParaRPr lang="en-US" sz="1400" dirty="0"/>
          </a:p>
        </p:txBody>
      </p:sp>
      <p:sp>
        <p:nvSpPr>
          <p:cNvPr id="13" name="Panah baca daftar"/>
          <p:cNvSpPr/>
          <p:nvPr/>
        </p:nvSpPr>
        <p:spPr>
          <a:xfrm flipH="1">
            <a:off x="5532120" y="3863340"/>
            <a:ext cx="457200" cy="0"/>
          </a:xfrm>
          <a:prstGeom prst="line">
            <a:avLst/>
          </a:prstGeom>
          <a:noFill/>
          <a:ln w="25400">
            <a:solidFill>
              <a:schemeClr val="accent1"/>
            </a:solidFill>
            <a:prstDash val="solid"/>
            <a:tailEnd type="triangle"/>
          </a:ln>
        </p:spPr>
      </p:sp>
      <p:sp>
        <p:nvSpPr>
          <p:cNvPr id="14" name="Label baca"/>
          <p:cNvSpPr txBox="1"/>
          <p:nvPr/>
        </p:nvSpPr>
        <p:spPr>
          <a:xfrm>
            <a:off x="5532120" y="3474720"/>
            <a:ext cx="457200" cy="274320"/>
          </a:xfrm>
          <a:prstGeom prst="rect">
            <a:avLst/>
          </a:prstGeom>
          <a:noFill/>
          <a:ln/>
        </p:spPr>
        <p:txBody>
          <a:bodyPr wrap="square" lIns="0" tIns="0" rIns="0" bIns="0" rtlCol="0" anchor="ctr"/>
          <a:lstStyle/>
          <a:p>
            <a:pPr algn="ctr" indent="0" marL="0">
              <a:buNone/>
            </a:pPr>
            <a:r>
              <a:rPr lang="en-US" sz="1200" dirty="0">
                <a:solidFill>
                  <a:schemeClr val="accent5"/>
                </a:solidFill>
              </a:rPr>
              <a:t>baca</a:t>
            </a:r>
            <a:endParaRPr lang="en-US" sz="1200" dirty="0"/>
          </a:p>
        </p:txBody>
      </p:sp>
      <p:sp>
        <p:nvSpPr>
          <p:cNvPr id="15" name="Catatan satu socket"/>
          <p:cNvSpPr txBox="1"/>
          <p:nvPr/>
        </p:nvSpPr>
        <p:spPr>
          <a:xfrm>
            <a:off x="6035040" y="1280160"/>
            <a:ext cx="2651760" cy="1691640"/>
          </a:xfrm>
          <a:prstGeom prst="roundRect">
            <a:avLst>
              <a:gd name="adj" fmla="val 4324"/>
            </a:avLst>
          </a:prstGeom>
          <a:solidFill>
            <a:schemeClr val="bg1"/>
          </a:solidFill>
          <a:ln w="15875">
            <a:solidFill>
              <a:schemeClr val="accent6"/>
            </a:solidFill>
          </a:ln>
        </p:spPr>
        <p:txBody>
          <a:bodyPr wrap="square" lIns="127000" tIns="127000" rIns="127000" bIns="127000" rtlCol="0" anchor="ctr"/>
          <a:lstStyle/>
          <a:p>
            <a:pPr algn="l" indent="0" marL="0">
              <a:buNone/>
            </a:pPr>
            <a:r>
              <a:rPr lang="en-US" sz="1400" dirty="0">
                <a:solidFill>
                  <a:schemeClr val="tx1"/>
                </a:solidFill>
              </a:rPr>
              <a:t>Satu socket UDP dipakai bersama oleh kedua thread. Pengumuman dikirim ke semua alamat di known_clients.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Main thread: terima dan balas</a:t>
            </a:r>
            <a:endParaRPr lang="en-US" sz="3000" dirty="0"/>
          </a:p>
        </p:txBody>
      </p:sp>
      <p:sp>
        <p:nvSpPr>
          <p:cNvPr id="3" name="Kode main thread (kotak)"/>
          <p:cNvSpPr/>
          <p:nvPr/>
        </p:nvSpPr>
        <p:spPr>
          <a:xfrm>
            <a:off x="457200" y="1234440"/>
            <a:ext cx="4846320" cy="1600200"/>
          </a:xfrm>
          <a:prstGeom prst="roundRect">
            <a:avLst>
              <a:gd name="adj" fmla="val 4571"/>
            </a:avLst>
          </a:prstGeom>
          <a:solidFill>
            <a:schemeClr val="tx2"/>
          </a:solidFill>
          <a:ln w="12700">
            <a:solidFill>
              <a:schemeClr val="tx2"/>
            </a:solidFill>
            <a:prstDash val="solid"/>
          </a:ln>
        </p:spPr>
      </p:sp>
      <p:sp>
        <p:nvSpPr>
          <p:cNvPr id="4" name="Kode main thread"/>
          <p:cNvSpPr txBox="1"/>
          <p:nvPr/>
        </p:nvSpPr>
        <p:spPr>
          <a:xfrm>
            <a:off x="640080" y="1344168"/>
            <a:ext cx="4480560" cy="1380744"/>
          </a:xfrm>
          <a:prstGeom prst="rect">
            <a:avLst/>
          </a:prstGeom>
          <a:noFill/>
          <a:ln/>
        </p:spPr>
        <p:txBody>
          <a:bodyPr wrap="square" lIns="0" tIns="0" rIns="0" bIns="0" rtlCol="0" anchor="t"/>
          <a:lstStyle/>
          <a:p>
            <a:pPr indent="0" marL="0">
              <a:spcAft>
                <a:spcPts val="200"/>
              </a:spcAft>
              <a:buNone/>
            </a:pPr>
            <a:r>
              <a:rPr lang="en-US" sz="1600" dirty="0">
                <a:solidFill>
                  <a:schemeClr val="bg2"/>
                </a:solidFill>
                <a:latin typeface="Courier New" pitchFamily="34" charset="0"/>
                <a:ea typeface="Courier New" pitchFamily="34" charset="-122"/>
                <a:cs typeface="Courier New" pitchFamily="34" charset="-120"/>
              </a:rPr>
              <a:t>data, addr = server.recvfrom(1024)</a:t>
            </a:r>
            <a:endParaRPr lang="en-US" sz="1600" dirty="0"/>
          </a:p>
          <a:p>
            <a:pPr indent="0" marL="0">
              <a:spcAft>
                <a:spcPts val="200"/>
              </a:spcAft>
              <a:buNone/>
            </a:pPr>
            <a:r>
              <a:rPr lang="en-US" sz="1600" dirty="0">
                <a:solidFill>
                  <a:schemeClr val="bg2"/>
                </a:solidFill>
                <a:latin typeface="Courier New" pitchFamily="34" charset="0"/>
                <a:ea typeface="Courier New" pitchFamily="34" charset="-122"/>
                <a:cs typeface="Courier New" pitchFamily="34" charset="-120"/>
              </a:rPr>
              <a:t>with clients_lock:</a:t>
            </a:r>
            <a:endParaRPr lang="en-US" sz="1600" dirty="0"/>
          </a:p>
          <a:p>
            <a:pPr indent="0" marL="0">
              <a:spcAft>
                <a:spcPts val="200"/>
              </a:spcAft>
              <a:buNone/>
            </a:pPr>
            <a:r>
              <a:rPr lang="en-US" sz="1600" dirty="0">
                <a:solidFill>
                  <a:schemeClr val="bg2"/>
                </a:solidFill>
                <a:latin typeface="Courier New" pitchFamily="34" charset="0"/>
                <a:ea typeface="Courier New" pitchFamily="34" charset="-122"/>
                <a:cs typeface="Courier New" pitchFamily="34" charset="-120"/>
              </a:rPr>
              <a:t>    known_clients.add(addr)</a:t>
            </a:r>
            <a:endParaRPr lang="en-US" sz="1600" dirty="0"/>
          </a:p>
          <a:p>
            <a:pPr indent="0" marL="0">
              <a:spcAft>
                <a:spcPts val="200"/>
              </a:spcAft>
              <a:buNone/>
            </a:pPr>
            <a:r>
              <a:rPr lang="en-US" sz="1600" dirty="0">
                <a:solidFill>
                  <a:schemeClr val="bg2"/>
                </a:solidFill>
                <a:latin typeface="Courier New" pitchFamily="34" charset="0"/>
                <a:ea typeface="Courier New" pitchFamily="34" charset="-122"/>
                <a:cs typeface="Courier New" pitchFamily="34" charset="-120"/>
              </a:rPr>
              <a:t>server.sendto(balasan, addr)</a:t>
            </a:r>
            <a:endParaRPr lang="en-US" sz="1600" dirty="0"/>
          </a:p>
        </p:txBody>
      </p:sp>
      <p:sp>
        <p:nvSpPr>
          <p:cNvPr id="5" name="Penjelasan recvfrom()"/>
          <p:cNvSpPr txBox="1"/>
          <p:nvPr/>
        </p:nvSpPr>
        <p:spPr>
          <a:xfrm>
            <a:off x="5669280" y="1234440"/>
            <a:ext cx="3017520" cy="749808"/>
          </a:xfrm>
          <a:prstGeom prst="rect">
            <a:avLst/>
          </a:prstGeom>
          <a:noFill/>
          <a:ln/>
        </p:spPr>
        <p:txBody>
          <a:bodyPr wrap="square" lIns="0" tIns="0" rIns="0" bIns="0" rtlCol="0" anchor="t"/>
          <a:lstStyle/>
          <a:p>
            <a:pPr indent="0" marL="0">
              <a:buNone/>
            </a:pPr>
            <a:r>
              <a:rPr lang="en-US" sz="1400" b="1" dirty="0">
                <a:solidFill>
                  <a:schemeClr val="tx2"/>
                </a:solidFill>
              </a:rPr>
              <a:t>recvfrom()</a:t>
            </a:r>
            <a:endParaRPr lang="en-US" sz="1400" dirty="0"/>
          </a:p>
          <a:p>
            <a:pPr indent="0" marL="0">
              <a:buNone/>
            </a:pPr>
            <a:r>
              <a:rPr lang="en-US" sz="1400" dirty="0">
                <a:solidFill>
                  <a:schemeClr val="tx1"/>
                </a:solidFill>
              </a:rPr>
              <a:t>Mengembalikan data dan alamat pengirim</a:t>
            </a:r>
            <a:endParaRPr lang="en-US" sz="1400" dirty="0"/>
          </a:p>
        </p:txBody>
      </p:sp>
      <p:sp>
        <p:nvSpPr>
          <p:cNvPr id="6" name="Penjelasan clients_lock"/>
          <p:cNvSpPr txBox="1"/>
          <p:nvPr/>
        </p:nvSpPr>
        <p:spPr>
          <a:xfrm>
            <a:off x="5669280" y="2057400"/>
            <a:ext cx="3017520" cy="749808"/>
          </a:xfrm>
          <a:prstGeom prst="rect">
            <a:avLst/>
          </a:prstGeom>
          <a:noFill/>
          <a:ln/>
        </p:spPr>
        <p:txBody>
          <a:bodyPr wrap="square" lIns="0" tIns="0" rIns="0" bIns="0" rtlCol="0" anchor="t"/>
          <a:lstStyle/>
          <a:p>
            <a:pPr indent="0" marL="0">
              <a:buNone/>
            </a:pPr>
            <a:r>
              <a:rPr lang="en-US" sz="1400" b="1" dirty="0">
                <a:solidFill>
                  <a:schemeClr val="tx2"/>
                </a:solidFill>
              </a:rPr>
              <a:t>clients_lock</a:t>
            </a:r>
            <a:endParaRPr lang="en-US" sz="1400" dirty="0"/>
          </a:p>
          <a:p>
            <a:pPr indent="0" marL="0">
              <a:buNone/>
            </a:pPr>
            <a:r>
              <a:rPr lang="en-US" sz="1400" dirty="0">
                <a:solidFill>
                  <a:schemeClr val="tx1"/>
                </a:solidFill>
              </a:rPr>
              <a:t>Daftar dipakai dua thread, jadi dikunci</a:t>
            </a:r>
            <a:endParaRPr lang="en-US" sz="1400" dirty="0"/>
          </a:p>
        </p:txBody>
      </p:sp>
      <p:sp>
        <p:nvSpPr>
          <p:cNvPr id="7" name="Penjelasan sendto()"/>
          <p:cNvSpPr txBox="1"/>
          <p:nvPr/>
        </p:nvSpPr>
        <p:spPr>
          <a:xfrm>
            <a:off x="5669280" y="2880360"/>
            <a:ext cx="3017520" cy="749808"/>
          </a:xfrm>
          <a:prstGeom prst="rect">
            <a:avLst/>
          </a:prstGeom>
          <a:noFill/>
          <a:ln/>
        </p:spPr>
        <p:txBody>
          <a:bodyPr wrap="square" lIns="0" tIns="0" rIns="0" bIns="0" rtlCol="0" anchor="t"/>
          <a:lstStyle/>
          <a:p>
            <a:pPr indent="0" marL="0">
              <a:buNone/>
            </a:pPr>
            <a:r>
              <a:rPr lang="en-US" sz="1400" b="1" dirty="0">
                <a:solidFill>
                  <a:schemeClr val="tx2"/>
                </a:solidFill>
              </a:rPr>
              <a:t>sendto()</a:t>
            </a:r>
            <a:endParaRPr lang="en-US" sz="1400" dirty="0"/>
          </a:p>
          <a:p>
            <a:pPr indent="0" marL="0">
              <a:buNone/>
            </a:pPr>
            <a:r>
              <a:rPr lang="en-US" sz="1400" dirty="0">
                <a:solidFill>
                  <a:schemeClr val="tx1"/>
                </a:solidFill>
              </a:rPr>
              <a:t>Alamat tujuan wajib disebut tiap kirim</a:t>
            </a:r>
            <a:endParaRPr lang="en-US" sz="1400" dirty="0"/>
          </a:p>
        </p:txBody>
      </p:sp>
      <p:sp>
        <p:nvSpPr>
          <p:cNvPr id="8" name="Catatan tanpa listen"/>
          <p:cNvSpPr txBox="1"/>
          <p:nvPr/>
        </p:nvSpPr>
        <p:spPr>
          <a:xfrm>
            <a:off x="457200" y="3017520"/>
            <a:ext cx="4846320" cy="502920"/>
          </a:xfrm>
          <a:prstGeom prst="rect">
            <a:avLst/>
          </a:prstGeom>
          <a:noFill/>
          <a:ln/>
        </p:spPr>
        <p:txBody>
          <a:bodyPr wrap="square" lIns="0" tIns="0" rIns="0" bIns="0" rtlCol="0" anchor="t"/>
          <a:lstStyle/>
          <a:p>
            <a:pPr indent="0" marL="0">
              <a:buNone/>
            </a:pPr>
            <a:r>
              <a:rPr lang="en-US" sz="1400" dirty="0">
                <a:solidFill>
                  <a:schemeClr val="accent5"/>
                </a:solidFill>
              </a:rPr>
              <a:t>Tidak ada listen() dan accept(): UDP tidak punya koneksi.</a:t>
            </a:r>
            <a:endParaRPr lang="en-US" sz="1400" dirty="0"/>
          </a:p>
        </p:txBody>
      </p:sp>
      <p:sp>
        <p:nvSpPr>
          <p:cNvPr id="9" name="Jawaban soal 1"/>
          <p:cNvSpPr txBox="1"/>
          <p:nvPr/>
        </p:nvSpPr>
        <p:spPr>
          <a:xfrm>
            <a:off x="457200" y="3794760"/>
            <a:ext cx="8229600" cy="731520"/>
          </a:xfrm>
          <a:prstGeom prst="roundRect">
            <a:avLst>
              <a:gd name="adj" fmla="val 10000"/>
            </a:avLst>
          </a:prstGeom>
          <a:solidFill>
            <a:schemeClr val="bg1"/>
          </a:solidFill>
          <a:ln w="19050">
            <a:solidFill>
              <a:schemeClr val="accent1"/>
            </a:solidFill>
          </a:ln>
        </p:spPr>
        <p:txBody>
          <a:bodyPr wrap="square" lIns="152400" tIns="152400" rIns="152400" bIns="152400" rtlCol="0" anchor="ctr"/>
          <a:lstStyle/>
          <a:p>
            <a:pPr indent="0" marL="0">
              <a:buNone/>
            </a:pPr>
            <a:r>
              <a:rPr lang="en-US" sz="1400" b="1" dirty="0">
                <a:solidFill>
                  <a:schemeClr val="tx1"/>
                </a:solidFill>
              </a:rPr>
              <a:t>Soal 1: </a:t>
            </a:r>
            <a:pPr indent="0" marL="0">
              <a:buNone/>
            </a:pPr>
            <a:r>
              <a:rPr lang="en-US" sz="1400" dirty="0">
                <a:solidFill>
                  <a:schemeClr val="tx1"/>
                </a:solidFill>
              </a:rPr>
              <a:t>UDP tidak butuh listen() dan accept() karena tidak ada koneksi yang perlu disiapkan atau diterima. Pengirim dikenali dari alamat yang dikembalikan recvfrom().</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Thread pengumuman</a:t>
            </a:r>
            <a:endParaRPr lang="en-US" sz="3000" dirty="0"/>
          </a:p>
        </p:txBody>
      </p:sp>
      <p:sp>
        <p:nvSpPr>
          <p:cNvPr id="3" name="Kode announcer (kotak)"/>
          <p:cNvSpPr/>
          <p:nvPr/>
        </p:nvSpPr>
        <p:spPr>
          <a:xfrm>
            <a:off x="457200" y="1234440"/>
            <a:ext cx="5029200" cy="2148840"/>
          </a:xfrm>
          <a:prstGeom prst="roundRect">
            <a:avLst>
              <a:gd name="adj" fmla="val 3404"/>
            </a:avLst>
          </a:prstGeom>
          <a:solidFill>
            <a:schemeClr val="tx2"/>
          </a:solidFill>
          <a:ln w="12700">
            <a:solidFill>
              <a:schemeClr val="tx2"/>
            </a:solidFill>
            <a:prstDash val="solid"/>
          </a:ln>
        </p:spPr>
      </p:sp>
      <p:sp>
        <p:nvSpPr>
          <p:cNvPr id="4" name="Kode announcer"/>
          <p:cNvSpPr txBox="1"/>
          <p:nvPr/>
        </p:nvSpPr>
        <p:spPr>
          <a:xfrm>
            <a:off x="640080" y="1344168"/>
            <a:ext cx="4663440" cy="1929384"/>
          </a:xfrm>
          <a:prstGeom prst="rect">
            <a:avLst/>
          </a:prstGeom>
          <a:noFill/>
          <a:ln/>
        </p:spPr>
        <p:txBody>
          <a:bodyPr wrap="square" lIns="0" tIns="0" rIns="0" bIns="0" rtlCol="0" anchor="t"/>
          <a:lstStyle/>
          <a:p>
            <a:pPr indent="0" marL="0">
              <a:spcAft>
                <a:spcPts val="200"/>
              </a:spcAft>
              <a:buNone/>
            </a:pPr>
            <a:r>
              <a:rPr lang="en-US" sz="1400" dirty="0">
                <a:solidFill>
                  <a:schemeClr val="bg2"/>
                </a:solidFill>
                <a:latin typeface="Courier New" pitchFamily="34" charset="0"/>
                <a:ea typeface="Courier New" pitchFamily="34" charset="-122"/>
                <a:cs typeface="Courier New" pitchFamily="34" charset="-120"/>
              </a:rPr>
              <a:t>def background_announcer(sock):</a:t>
            </a:r>
            <a:endParaRPr lang="en-US" sz="1400" dirty="0"/>
          </a:p>
          <a:p>
            <a:pPr indent="0" marL="0">
              <a:spcAft>
                <a:spcPts val="200"/>
              </a:spcAft>
              <a:buNone/>
            </a:pPr>
            <a:r>
              <a:rPr lang="en-US" sz="1400" dirty="0">
                <a:solidFill>
                  <a:schemeClr val="bg2"/>
                </a:solidFill>
                <a:latin typeface="Courier New" pitchFamily="34" charset="0"/>
                <a:ea typeface="Courier New" pitchFamily="34" charset="-122"/>
                <a:cs typeface="Courier New" pitchFamily="34" charset="-120"/>
              </a:rPr>
              <a:t>    while True:</a:t>
            </a:r>
            <a:endParaRPr lang="en-US" sz="1400" dirty="0"/>
          </a:p>
          <a:p>
            <a:pPr indent="0" marL="0">
              <a:spcAft>
                <a:spcPts val="200"/>
              </a:spcAft>
              <a:buNone/>
            </a:pPr>
            <a:r>
              <a:rPr lang="en-US" sz="1400" dirty="0">
                <a:solidFill>
                  <a:schemeClr val="bg2"/>
                </a:solidFill>
                <a:latin typeface="Courier New" pitchFamily="34" charset="0"/>
                <a:ea typeface="Courier New" pitchFamily="34" charset="-122"/>
                <a:cs typeface="Courier New" pitchFamily="34" charset="-120"/>
              </a:rPr>
              <a:t>        with clients_lock:</a:t>
            </a:r>
            <a:endParaRPr lang="en-US" sz="1400" dirty="0"/>
          </a:p>
          <a:p>
            <a:pPr indent="0" marL="0">
              <a:spcAft>
                <a:spcPts val="200"/>
              </a:spcAft>
              <a:buNone/>
            </a:pPr>
            <a:r>
              <a:rPr lang="en-US" sz="1400" dirty="0">
                <a:solidFill>
                  <a:schemeClr val="bg2"/>
                </a:solidFill>
                <a:latin typeface="Courier New" pitchFamily="34" charset="0"/>
                <a:ea typeface="Courier New" pitchFamily="34" charset="-122"/>
                <a:cs typeface="Courier New" pitchFamily="34" charset="-120"/>
              </a:rPr>
              <a:t>            daftar = list(known_clients)</a:t>
            </a:r>
            <a:endParaRPr lang="en-US" sz="1400" dirty="0"/>
          </a:p>
          <a:p>
            <a:pPr indent="0" marL="0">
              <a:spcAft>
                <a:spcPts val="200"/>
              </a:spcAft>
              <a:buNone/>
            </a:pPr>
            <a:r>
              <a:rPr lang="en-US" sz="1400" dirty="0">
                <a:solidFill>
                  <a:schemeClr val="bg2"/>
                </a:solidFill>
                <a:latin typeface="Courier New" pitchFamily="34" charset="0"/>
                <a:ea typeface="Courier New" pitchFamily="34" charset="-122"/>
                <a:cs typeface="Courier New" pitchFamily="34" charset="-120"/>
              </a:rPr>
              <a:t>        for addr in daftar:</a:t>
            </a:r>
            <a:endParaRPr lang="en-US" sz="1400" dirty="0"/>
          </a:p>
          <a:p>
            <a:pPr indent="0" marL="0">
              <a:spcAft>
                <a:spcPts val="200"/>
              </a:spcAft>
              <a:buNone/>
            </a:pPr>
            <a:r>
              <a:rPr lang="en-US" sz="1400" dirty="0">
                <a:solidFill>
                  <a:schemeClr val="bg2"/>
                </a:solidFill>
                <a:latin typeface="Courier New" pitchFamily="34" charset="0"/>
                <a:ea typeface="Courier New" pitchFamily="34" charset="-122"/>
                <a:cs typeface="Courier New" pitchFamily="34" charset="-120"/>
              </a:rPr>
              <a:t>            sock.sendto(pesan, addr)</a:t>
            </a:r>
            <a:endParaRPr lang="en-US" sz="1400" dirty="0"/>
          </a:p>
          <a:p>
            <a:pPr indent="0" marL="0">
              <a:spcAft>
                <a:spcPts val="200"/>
              </a:spcAft>
              <a:buNone/>
            </a:pPr>
            <a:r>
              <a:rPr lang="en-US" sz="1400" dirty="0">
                <a:solidFill>
                  <a:schemeClr val="bg2"/>
                </a:solidFill>
                <a:latin typeface="Courier New" pitchFamily="34" charset="0"/>
                <a:ea typeface="Courier New" pitchFamily="34" charset="-122"/>
                <a:cs typeface="Courier New" pitchFamily="34" charset="-120"/>
              </a:rPr>
              <a:t>        time.sleep(5)</a:t>
            </a:r>
            <a:endParaRPr lang="en-US" sz="1400" dirty="0"/>
          </a:p>
        </p:txBody>
      </p:sp>
      <p:sp>
        <p:nvSpPr>
          <p:cNvPr id="5" name="Penjelasan Thread terpisah"/>
          <p:cNvSpPr txBox="1"/>
          <p:nvPr/>
        </p:nvSpPr>
        <p:spPr>
          <a:xfrm>
            <a:off x="5760720" y="1234440"/>
            <a:ext cx="2926080" cy="676656"/>
          </a:xfrm>
          <a:prstGeom prst="rect">
            <a:avLst/>
          </a:prstGeom>
          <a:noFill/>
          <a:ln/>
        </p:spPr>
        <p:txBody>
          <a:bodyPr wrap="square" lIns="0" tIns="0" rIns="0" bIns="0" rtlCol="0" anchor="t"/>
          <a:lstStyle/>
          <a:p>
            <a:pPr indent="0" marL="0">
              <a:buNone/>
            </a:pPr>
            <a:r>
              <a:rPr lang="en-US" sz="1400" b="1" dirty="0">
                <a:solidFill>
                  <a:schemeClr val="tx2"/>
                </a:solidFill>
              </a:rPr>
              <a:t>Thread terpisah</a:t>
            </a:r>
            <a:endParaRPr lang="en-US" sz="1400" dirty="0"/>
          </a:p>
          <a:p>
            <a:pPr indent="0" marL="0">
              <a:buNone/>
            </a:pPr>
            <a:r>
              <a:rPr lang="en-US" sz="1400" dirty="0">
                <a:solidFill>
                  <a:schemeClr val="tx1"/>
                </a:solidFill>
              </a:rPr>
              <a:t>recvfrom() blocking, jadi pengumuman butuh thread sendiri</a:t>
            </a:r>
            <a:endParaRPr lang="en-US" sz="1400" dirty="0"/>
          </a:p>
        </p:txBody>
      </p:sp>
      <p:sp>
        <p:nvSpPr>
          <p:cNvPr id="6" name="Penjelasan Salin, lalu kirim"/>
          <p:cNvSpPr txBox="1"/>
          <p:nvPr/>
        </p:nvSpPr>
        <p:spPr>
          <a:xfrm>
            <a:off x="5760720" y="1947672"/>
            <a:ext cx="2926080" cy="676656"/>
          </a:xfrm>
          <a:prstGeom prst="rect">
            <a:avLst/>
          </a:prstGeom>
          <a:noFill/>
          <a:ln/>
        </p:spPr>
        <p:txBody>
          <a:bodyPr wrap="square" lIns="0" tIns="0" rIns="0" bIns="0" rtlCol="0" anchor="t"/>
          <a:lstStyle/>
          <a:p>
            <a:pPr indent="0" marL="0">
              <a:buNone/>
            </a:pPr>
            <a:r>
              <a:rPr lang="en-US" sz="1400" b="1" dirty="0">
                <a:solidFill>
                  <a:schemeClr val="tx2"/>
                </a:solidFill>
              </a:rPr>
              <a:t>Salin, lalu kirim</a:t>
            </a:r>
            <a:endParaRPr lang="en-US" sz="1400" dirty="0"/>
          </a:p>
          <a:p>
            <a:pPr indent="0" marL="0">
              <a:buNone/>
            </a:pPr>
            <a:r>
              <a:rPr lang="en-US" sz="1400" dirty="0">
                <a:solidFill>
                  <a:schemeClr val="tx1"/>
                </a:solidFill>
              </a:rPr>
              <a:t>Kunci dipegang sebentar, kirim di luar kunci</a:t>
            </a:r>
            <a:endParaRPr lang="en-US" sz="1400" dirty="0"/>
          </a:p>
        </p:txBody>
      </p:sp>
      <p:sp>
        <p:nvSpPr>
          <p:cNvPr id="7" name="Penjelasan daemon=True"/>
          <p:cNvSpPr txBox="1"/>
          <p:nvPr/>
        </p:nvSpPr>
        <p:spPr>
          <a:xfrm>
            <a:off x="5760720" y="2660904"/>
            <a:ext cx="2926080" cy="676656"/>
          </a:xfrm>
          <a:prstGeom prst="rect">
            <a:avLst/>
          </a:prstGeom>
          <a:noFill/>
          <a:ln/>
        </p:spPr>
        <p:txBody>
          <a:bodyPr wrap="square" lIns="0" tIns="0" rIns="0" bIns="0" rtlCol="0" anchor="t"/>
          <a:lstStyle/>
          <a:p>
            <a:pPr indent="0" marL="0">
              <a:buNone/>
            </a:pPr>
            <a:r>
              <a:rPr lang="en-US" sz="1400" b="1" dirty="0">
                <a:solidFill>
                  <a:schemeClr val="tx2"/>
                </a:solidFill>
              </a:rPr>
              <a:t>daemon=True</a:t>
            </a:r>
            <a:endParaRPr lang="en-US" sz="1400" dirty="0"/>
          </a:p>
          <a:p>
            <a:pPr indent="0" marL="0">
              <a:buNone/>
            </a:pPr>
            <a:r>
              <a:rPr lang="en-US" sz="1400" dirty="0">
                <a:solidFill>
                  <a:schemeClr val="tx1"/>
                </a:solidFill>
              </a:rPr>
              <a:t>Thread ikut berhenti saat program selesai</a:t>
            </a:r>
            <a:endParaRPr lang="en-US" sz="1400" dirty="0"/>
          </a:p>
        </p:txBody>
      </p:sp>
      <p:sp>
        <p:nvSpPr>
          <p:cNvPr id="8" name="Jawaban soal 3"/>
          <p:cNvSpPr txBox="1"/>
          <p:nvPr/>
        </p:nvSpPr>
        <p:spPr>
          <a:xfrm>
            <a:off x="457200" y="3794760"/>
            <a:ext cx="8229600" cy="731520"/>
          </a:xfrm>
          <a:prstGeom prst="roundRect">
            <a:avLst>
              <a:gd name="adj" fmla="val 10000"/>
            </a:avLst>
          </a:prstGeom>
          <a:solidFill>
            <a:schemeClr val="bg1"/>
          </a:solidFill>
          <a:ln w="19050">
            <a:solidFill>
              <a:schemeClr val="accent1"/>
            </a:solidFill>
          </a:ln>
        </p:spPr>
        <p:txBody>
          <a:bodyPr wrap="square" lIns="152400" tIns="152400" rIns="152400" bIns="152400" rtlCol="0" anchor="ctr"/>
          <a:lstStyle/>
          <a:p>
            <a:pPr indent="0" marL="0">
              <a:buNone/>
            </a:pPr>
            <a:r>
              <a:rPr lang="en-US" sz="1400" b="1" dirty="0">
                <a:solidFill>
                  <a:schemeClr val="tx1"/>
                </a:solidFill>
              </a:rPr>
              <a:t>Soal 3: </a:t>
            </a:r>
            <a:pPr indent="0" marL="0">
              <a:buNone/>
            </a:pPr>
            <a:r>
              <a:rPr lang="en-US" sz="1400" dirty="0">
                <a:solidFill>
                  <a:schemeClr val="tx1"/>
                </a:solidFill>
              </a:rPr>
              <a:t>kalau pengumuman ada di main loop, ACK ke client ikut tertunda selama server menunggu 5 detik, karena satu thread tidak bisa mengerjakan dua hal.</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Kenapa perlu Lock</a:t>
            </a:r>
            <a:endParaRPr lang="en-US" sz="3000" dirty="0"/>
          </a:p>
        </p:txBody>
      </p:sp>
      <p:sp>
        <p:nvSpPr>
          <p:cNvPr id="3" name="Kartu lock 1"/>
          <p:cNvSpPr/>
          <p:nvPr/>
        </p:nvSpPr>
        <p:spPr>
          <a:xfrm>
            <a:off x="457200" y="1234440"/>
            <a:ext cx="3977640" cy="2194560"/>
          </a:xfrm>
          <a:prstGeom prst="roundRect">
            <a:avLst>
              <a:gd name="adj" fmla="val 3333"/>
            </a:avLst>
          </a:prstGeom>
          <a:solidFill>
            <a:schemeClr val="bg1"/>
          </a:solidFill>
          <a:ln w="19050">
            <a:solidFill>
              <a:schemeClr val="accent3"/>
            </a:solidFill>
            <a:prstDash val="solid"/>
          </a:ln>
        </p:spPr>
      </p:sp>
      <p:sp>
        <p:nvSpPr>
          <p:cNvPr id="4" name="Judul lock 1"/>
          <p:cNvSpPr txBox="1"/>
          <p:nvPr/>
        </p:nvSpPr>
        <p:spPr>
          <a:xfrm>
            <a:off x="685800" y="1371600"/>
            <a:ext cx="3520440" cy="320040"/>
          </a:xfrm>
          <a:prstGeom prst="rect">
            <a:avLst/>
          </a:prstGeom>
          <a:noFill/>
          <a:ln/>
        </p:spPr>
        <p:txBody>
          <a:bodyPr wrap="square" lIns="0" tIns="0" rIns="0" bIns="0" rtlCol="0" anchor="ctr"/>
          <a:lstStyle/>
          <a:p>
            <a:pPr indent="0" marL="0">
              <a:buNone/>
            </a:pPr>
            <a:r>
              <a:rPr lang="en-US" sz="1600" b="1" dirty="0">
                <a:solidFill>
                  <a:schemeClr val="tx2"/>
                </a:solidFill>
              </a:rPr>
              <a:t>Tanpa Lock</a:t>
            </a:r>
            <a:endParaRPr lang="en-US" sz="1600" dirty="0"/>
          </a:p>
        </p:txBody>
      </p:sp>
      <p:sp>
        <p:nvSpPr>
          <p:cNvPr id="5" name="Hasil lock 1"/>
          <p:cNvSpPr txBox="1"/>
          <p:nvPr/>
        </p:nvSpPr>
        <p:spPr>
          <a:xfrm>
            <a:off x="685800" y="1737360"/>
            <a:ext cx="3520440" cy="548640"/>
          </a:xfrm>
          <a:prstGeom prst="rect">
            <a:avLst/>
          </a:prstGeom>
          <a:noFill/>
          <a:ln/>
        </p:spPr>
        <p:txBody>
          <a:bodyPr wrap="square" lIns="0" tIns="0" rIns="0" bIns="0" rtlCol="0" anchor="ctr"/>
          <a:lstStyle/>
          <a:p>
            <a:pPr indent="0" marL="0">
              <a:buNone/>
            </a:pPr>
            <a:r>
              <a:rPr lang="en-US" sz="2800" b="1" dirty="0">
                <a:solidFill>
                  <a:schemeClr val="accent3"/>
                </a:solidFill>
              </a:rPr>
              <a:t>RuntimeError</a:t>
            </a:r>
            <a:endParaRPr lang="en-US" sz="2800" dirty="0"/>
          </a:p>
        </p:txBody>
      </p:sp>
      <p:sp>
        <p:nvSpPr>
          <p:cNvPr id="6" name="Penjelasan lock 1"/>
          <p:cNvSpPr txBox="1"/>
          <p:nvPr/>
        </p:nvSpPr>
        <p:spPr>
          <a:xfrm>
            <a:off x="685800" y="2377440"/>
            <a:ext cx="3520440" cy="914400"/>
          </a:xfrm>
          <a:prstGeom prst="rect">
            <a:avLst/>
          </a:prstGeom>
          <a:noFill/>
          <a:ln/>
        </p:spPr>
        <p:txBody>
          <a:bodyPr wrap="square" lIns="0" tIns="0" rIns="0" bIns="0" rtlCol="0" anchor="t"/>
          <a:lstStyle/>
          <a:p>
            <a:pPr indent="0" marL="0">
              <a:buNone/>
            </a:pPr>
            <a:r>
              <a:rPr lang="en-US" sz="1400" dirty="0">
                <a:solidFill>
                  <a:schemeClr val="tx1"/>
                </a:solidFill>
              </a:rPr>
              <a:t>Set changed size during iteration. Announcer membaca daftar saat main thread sedang menambah client.</a:t>
            </a:r>
            <a:endParaRPr lang="en-US" sz="1400" dirty="0"/>
          </a:p>
        </p:txBody>
      </p:sp>
      <p:sp>
        <p:nvSpPr>
          <p:cNvPr id="7" name="Kartu lock 2"/>
          <p:cNvSpPr/>
          <p:nvPr/>
        </p:nvSpPr>
        <p:spPr>
          <a:xfrm>
            <a:off x="4709160" y="1234440"/>
            <a:ext cx="3977640" cy="2194560"/>
          </a:xfrm>
          <a:prstGeom prst="roundRect">
            <a:avLst>
              <a:gd name="adj" fmla="val 3333"/>
            </a:avLst>
          </a:prstGeom>
          <a:solidFill>
            <a:schemeClr val="bg1"/>
          </a:solidFill>
          <a:ln w="19050">
            <a:solidFill>
              <a:schemeClr val="accent1"/>
            </a:solidFill>
            <a:prstDash val="solid"/>
          </a:ln>
        </p:spPr>
      </p:sp>
      <p:sp>
        <p:nvSpPr>
          <p:cNvPr id="8" name="Judul lock 2"/>
          <p:cNvSpPr txBox="1"/>
          <p:nvPr/>
        </p:nvSpPr>
        <p:spPr>
          <a:xfrm>
            <a:off x="4937760" y="1371600"/>
            <a:ext cx="3520440" cy="320040"/>
          </a:xfrm>
          <a:prstGeom prst="rect">
            <a:avLst/>
          </a:prstGeom>
          <a:noFill/>
          <a:ln/>
        </p:spPr>
        <p:txBody>
          <a:bodyPr wrap="square" lIns="0" tIns="0" rIns="0" bIns="0" rtlCol="0" anchor="ctr"/>
          <a:lstStyle/>
          <a:p>
            <a:pPr indent="0" marL="0">
              <a:buNone/>
            </a:pPr>
            <a:r>
              <a:rPr lang="en-US" sz="1600" b="1" dirty="0">
                <a:solidFill>
                  <a:schemeClr val="tx2"/>
                </a:solidFill>
              </a:rPr>
              <a:t>Dengan Lock</a:t>
            </a:r>
            <a:endParaRPr lang="en-US" sz="1600" dirty="0"/>
          </a:p>
        </p:txBody>
      </p:sp>
      <p:sp>
        <p:nvSpPr>
          <p:cNvPr id="9" name="Hasil lock 2"/>
          <p:cNvSpPr txBox="1"/>
          <p:nvPr/>
        </p:nvSpPr>
        <p:spPr>
          <a:xfrm>
            <a:off x="4937760" y="1737360"/>
            <a:ext cx="3520440" cy="548640"/>
          </a:xfrm>
          <a:prstGeom prst="rect">
            <a:avLst/>
          </a:prstGeom>
          <a:noFill/>
          <a:ln/>
        </p:spPr>
        <p:txBody>
          <a:bodyPr wrap="square" lIns="0" tIns="0" rIns="0" bIns="0" rtlCol="0" anchor="ctr"/>
          <a:lstStyle/>
          <a:p>
            <a:pPr indent="0" marL="0">
              <a:buNone/>
            </a:pPr>
            <a:r>
              <a:rPr lang="en-US" sz="2800" b="1" dirty="0">
                <a:solidFill>
                  <a:schemeClr val="accent1"/>
                </a:solidFill>
              </a:rPr>
              <a:t>Aman</a:t>
            </a:r>
            <a:endParaRPr lang="en-US" sz="2800" dirty="0"/>
          </a:p>
        </p:txBody>
      </p:sp>
      <p:sp>
        <p:nvSpPr>
          <p:cNvPr id="10" name="Penjelasan lock 2"/>
          <p:cNvSpPr txBox="1"/>
          <p:nvPr/>
        </p:nvSpPr>
        <p:spPr>
          <a:xfrm>
            <a:off x="4937760" y="2377440"/>
            <a:ext cx="3520440" cy="914400"/>
          </a:xfrm>
          <a:prstGeom prst="rect">
            <a:avLst/>
          </a:prstGeom>
          <a:noFill/>
          <a:ln/>
        </p:spPr>
        <p:txBody>
          <a:bodyPr wrap="square" lIns="0" tIns="0" rIns="0" bIns="0" rtlCol="0" anchor="t"/>
          <a:lstStyle/>
          <a:p>
            <a:pPr indent="0" marL="0">
              <a:buNone/>
            </a:pPr>
            <a:r>
              <a:rPr lang="en-US" sz="1400" dirty="0">
                <a:solidFill>
                  <a:schemeClr val="tx1"/>
                </a:solidFill>
              </a:rPr>
              <a:t>Daftar hanya disentuh satu thread dalam satu waktu, jadi tidak ada yang berubah di tengah pembacaan.</a:t>
            </a:r>
            <a:endParaRPr lang="en-US" sz="1400" dirty="0"/>
          </a:p>
        </p:txBody>
      </p:sp>
      <p:sp>
        <p:nvSpPr>
          <p:cNvPr id="11" name="Jawaban soal 2"/>
          <p:cNvSpPr txBox="1"/>
          <p:nvPr/>
        </p:nvSpPr>
        <p:spPr>
          <a:xfrm>
            <a:off x="457200" y="3611880"/>
            <a:ext cx="8229600" cy="685800"/>
          </a:xfrm>
          <a:prstGeom prst="roundRect">
            <a:avLst>
              <a:gd name="adj" fmla="val 10667"/>
            </a:avLst>
          </a:prstGeom>
          <a:solidFill>
            <a:schemeClr val="bg1"/>
          </a:solidFill>
          <a:ln w="19050">
            <a:solidFill>
              <a:schemeClr val="accent1"/>
            </a:solidFill>
          </a:ln>
        </p:spPr>
        <p:txBody>
          <a:bodyPr wrap="square" lIns="152400" tIns="152400" rIns="152400" bIns="152400" rtlCol="0" anchor="ctr"/>
          <a:lstStyle/>
          <a:p>
            <a:pPr indent="0" marL="0">
              <a:buNone/>
            </a:pPr>
            <a:r>
              <a:rPr lang="en-US" sz="1400" b="1" dirty="0">
                <a:solidFill>
                  <a:schemeClr val="tx1"/>
                </a:solidFill>
              </a:rPr>
              <a:t>Soal 2: </a:t>
            </a:r>
            <a:pPr indent="0" marL="0">
              <a:buNone/>
            </a:pPr>
            <a:r>
              <a:rPr lang="en-US" sz="1400" dirty="0">
                <a:solidFill>
                  <a:schemeClr val="tx1"/>
                </a:solidFill>
              </a:rPr>
              <a:t>Lock memastikan hanya satu thread yang membaca atau mengubah known_clients pada satu waktu.</a:t>
            </a:r>
            <a:endParaRPr lang="en-US" sz="1400" dirty="0"/>
          </a:p>
        </p:txBody>
      </p:sp>
      <p:sp>
        <p:nvSpPr>
          <p:cNvPr id="12" name="Catatan eksperimen"/>
          <p:cNvSpPr txBox="1"/>
          <p:nvPr/>
        </p:nvSpPr>
        <p:spPr>
          <a:xfrm>
            <a:off x="457200" y="4434840"/>
            <a:ext cx="7680960" cy="256032"/>
          </a:xfrm>
          <a:prstGeom prst="rect">
            <a:avLst/>
          </a:prstGeom>
          <a:noFill/>
          <a:ln/>
        </p:spPr>
        <p:txBody>
          <a:bodyPr wrap="square" lIns="0" tIns="0" rIns="0" bIns="0" rtlCol="0" anchor="ctr"/>
          <a:lstStyle/>
          <a:p>
            <a:pPr indent="0" marL="0">
              <a:buNone/>
            </a:pPr>
            <a:r>
              <a:rPr lang="en-US" sz="1200" dirty="0">
                <a:solidFill>
                  <a:schemeClr val="accent5"/>
                </a:solidFill>
              </a:rPr>
              <a:t>Hasil dari eksperimen_race_condition.py. Hasil bisa berbeda tiap dijalankan.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Client dengan dua thread</a:t>
            </a:r>
            <a:endParaRPr lang="en-US" sz="3000" dirty="0"/>
          </a:p>
        </p:txBody>
      </p:sp>
      <p:sp>
        <p:nvSpPr>
          <p:cNvPr id="3" name="Kotak main thread client"/>
          <p:cNvSpPr txBox="1"/>
          <p:nvPr/>
        </p:nvSpPr>
        <p:spPr>
          <a:xfrm>
            <a:off x="457200" y="1280160"/>
            <a:ext cx="338328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2"/>
                </a:solidFill>
              </a:rPr>
              <a:t>Main thread</a:t>
            </a:r>
            <a:endParaRPr lang="en-US" sz="1400" dirty="0"/>
          </a:p>
          <a:p>
            <a:pPr algn="ctr" indent="0" marL="0">
              <a:buNone/>
            </a:pPr>
            <a:r>
              <a:rPr lang="en-US" sz="1400" dirty="0">
                <a:solidFill>
                  <a:schemeClr val="tx2"/>
                </a:solidFill>
                <a:latin typeface="Courier New" pitchFamily="34" charset="0"/>
                <a:ea typeface="Courier New" pitchFamily="34" charset="-122"/>
                <a:cs typeface="Courier New" pitchFamily="34" charset="-120"/>
              </a:rPr>
              <a:t>input(), lalu sendto()</a:t>
            </a:r>
            <a:endParaRPr lang="en-US" sz="1400" dirty="0"/>
          </a:p>
        </p:txBody>
      </p:sp>
      <p:sp>
        <p:nvSpPr>
          <p:cNvPr id="4" name="Kotak receiver thread"/>
          <p:cNvSpPr txBox="1"/>
          <p:nvPr/>
        </p:nvSpPr>
        <p:spPr>
          <a:xfrm>
            <a:off x="457200" y="2606040"/>
            <a:ext cx="338328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2"/>
                </a:solidFill>
              </a:rPr>
              <a:t>Receiver thread</a:t>
            </a:r>
            <a:endParaRPr lang="en-US" sz="1400" dirty="0"/>
          </a:p>
          <a:p>
            <a:pPr algn="ctr" indent="0" marL="0">
              <a:buNone/>
            </a:pPr>
            <a:r>
              <a:rPr lang="en-US" sz="1400" dirty="0">
                <a:solidFill>
                  <a:schemeClr val="tx2"/>
                </a:solidFill>
                <a:latin typeface="Courier New" pitchFamily="34" charset="0"/>
                <a:ea typeface="Courier New" pitchFamily="34" charset="-122"/>
                <a:cs typeface="Courier New" pitchFamily="34" charset="-120"/>
              </a:rPr>
              <a:t>recvfrom(), lalu print</a:t>
            </a:r>
            <a:endParaRPr lang="en-US" sz="1400" dirty="0"/>
          </a:p>
        </p:txBody>
      </p:sp>
      <p:sp>
        <p:nvSpPr>
          <p:cNvPr id="5" name="Kotak server client"/>
          <p:cNvSpPr txBox="1"/>
          <p:nvPr/>
        </p:nvSpPr>
        <p:spPr>
          <a:xfrm>
            <a:off x="5852160" y="1280160"/>
            <a:ext cx="2834640" cy="2194560"/>
          </a:xfrm>
          <a:prstGeom prst="roundRect">
            <a:avLst>
              <a:gd name="adj" fmla="val 3333"/>
            </a:avLst>
          </a:prstGeom>
          <a:solidFill>
            <a:schemeClr val="accent1"/>
          </a:solidFill>
          <a:ln/>
        </p:spPr>
        <p:txBody>
          <a:bodyPr wrap="square" lIns="0" tIns="0" rIns="0" bIns="0" rtlCol="0" anchor="ctr"/>
          <a:lstStyle/>
          <a:p>
            <a:pPr algn="ctr" indent="0" marL="0">
              <a:buNone/>
            </a:pPr>
            <a:r>
              <a:rPr lang="en-US" sz="2000" b="1" dirty="0">
                <a:solidFill>
                  <a:schemeClr val="tx2"/>
                </a:solidFill>
              </a:rPr>
              <a:t>Server</a:t>
            </a:r>
            <a:endParaRPr lang="en-US" sz="2000" dirty="0"/>
          </a:p>
        </p:txBody>
      </p:sp>
      <p:sp>
        <p:nvSpPr>
          <p:cNvPr id="6" name="Panah kirim"/>
          <p:cNvSpPr/>
          <p:nvPr/>
        </p:nvSpPr>
        <p:spPr>
          <a:xfrm>
            <a:off x="3886200" y="1714500"/>
            <a:ext cx="1920240" cy="0"/>
          </a:xfrm>
          <a:prstGeom prst="line">
            <a:avLst/>
          </a:prstGeom>
          <a:noFill/>
          <a:ln w="25400">
            <a:solidFill>
              <a:schemeClr val="accent1"/>
            </a:solidFill>
            <a:prstDash val="solid"/>
            <a:tailEnd type="triangle"/>
          </a:ln>
        </p:spPr>
      </p:sp>
      <p:sp>
        <p:nvSpPr>
          <p:cNvPr id="7" name="Panah terima"/>
          <p:cNvSpPr/>
          <p:nvPr/>
        </p:nvSpPr>
        <p:spPr>
          <a:xfrm flipH="1">
            <a:off x="3886200" y="3040380"/>
            <a:ext cx="1920240" cy="0"/>
          </a:xfrm>
          <a:prstGeom prst="line">
            <a:avLst/>
          </a:prstGeom>
          <a:noFill/>
          <a:ln w="25400">
            <a:solidFill>
              <a:schemeClr val="accent1"/>
            </a:solidFill>
            <a:prstDash val="solid"/>
            <a:tailEnd type="triangle"/>
          </a:ln>
        </p:spPr>
      </p:sp>
      <p:sp>
        <p:nvSpPr>
          <p:cNvPr id="8" name="Label pesan"/>
          <p:cNvSpPr txBox="1"/>
          <p:nvPr/>
        </p:nvSpPr>
        <p:spPr>
          <a:xfrm>
            <a:off x="3886200" y="1417320"/>
            <a:ext cx="1920240" cy="256032"/>
          </a:xfrm>
          <a:prstGeom prst="rect">
            <a:avLst/>
          </a:prstGeom>
          <a:noFill/>
          <a:ln/>
        </p:spPr>
        <p:txBody>
          <a:bodyPr wrap="square" lIns="0" tIns="0" rIns="0" bIns="0" rtlCol="0" anchor="ctr"/>
          <a:lstStyle/>
          <a:p>
            <a:pPr algn="ctr" indent="0" marL="0">
              <a:buNone/>
            </a:pPr>
            <a:r>
              <a:rPr lang="en-US" sz="1200" dirty="0">
                <a:solidFill>
                  <a:schemeClr val="accent5"/>
                </a:solidFill>
              </a:rPr>
              <a:t>pesan</a:t>
            </a:r>
            <a:endParaRPr lang="en-US" sz="1200" dirty="0"/>
          </a:p>
        </p:txBody>
      </p:sp>
      <p:sp>
        <p:nvSpPr>
          <p:cNvPr id="9" name="Label ACK"/>
          <p:cNvSpPr txBox="1"/>
          <p:nvPr/>
        </p:nvSpPr>
        <p:spPr>
          <a:xfrm>
            <a:off x="3886200" y="2743200"/>
            <a:ext cx="1920240" cy="256032"/>
          </a:xfrm>
          <a:prstGeom prst="rect">
            <a:avLst/>
          </a:prstGeom>
          <a:noFill/>
          <a:ln/>
        </p:spPr>
        <p:txBody>
          <a:bodyPr wrap="square" lIns="0" tIns="0" rIns="0" bIns="0" rtlCol="0" anchor="ctr"/>
          <a:lstStyle/>
          <a:p>
            <a:pPr algn="ctr" indent="0" marL="0">
              <a:buNone/>
            </a:pPr>
            <a:r>
              <a:rPr lang="en-US" sz="1200" dirty="0">
                <a:solidFill>
                  <a:schemeClr val="accent5"/>
                </a:solidFill>
              </a:rPr>
              <a:t>ACK dan pengumuman</a:t>
            </a:r>
            <a:endParaRPr lang="en-US" sz="1200" dirty="0"/>
          </a:p>
        </p:txBody>
      </p:sp>
      <p:sp>
        <p:nvSpPr>
          <p:cNvPr id="10" name="Alasan dua thread"/>
          <p:cNvSpPr txBox="1"/>
          <p:nvPr/>
        </p:nvSpPr>
        <p:spPr>
          <a:xfrm>
            <a:off x="457200" y="3749040"/>
            <a:ext cx="8229600" cy="777240"/>
          </a:xfrm>
          <a:prstGeom prst="roundRect">
            <a:avLst>
              <a:gd name="adj" fmla="val 9412"/>
            </a:avLst>
          </a:prstGeom>
          <a:solidFill>
            <a:schemeClr val="bg1"/>
          </a:solidFill>
          <a:ln w="19050">
            <a:solidFill>
              <a:schemeClr val="accent1"/>
            </a:solidFill>
          </a:ln>
        </p:spPr>
        <p:txBody>
          <a:bodyPr wrap="square" lIns="152400" tIns="152400" rIns="152400" bIns="152400" rtlCol="0" anchor="ctr"/>
          <a:lstStyle/>
          <a:p>
            <a:pPr indent="0" marL="0">
              <a:buNone/>
            </a:pPr>
            <a:r>
              <a:rPr lang="en-US" sz="1400" b="1" dirty="0">
                <a:solidFill>
                  <a:schemeClr val="tx1"/>
                </a:solidFill>
              </a:rPr>
              <a:t>Kenapa dua thread? </a:t>
            </a:r>
            <a:pPr indent="0" marL="0">
              <a:buNone/>
            </a:pPr>
            <a:r>
              <a:rPr lang="en-US" sz="1400" dirty="0">
                <a:solidFill>
                  <a:schemeClr val="tx1"/>
                </a:solidFill>
              </a:rPr>
              <a:t>Pengumuman datang tanpa diminta, sedangkan input() menunggu ketikan. Dengan satu thread, pesan masuk tidak terbaca selama menunggu ketikan.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Hasil pengujian</a:t>
            </a:r>
            <a:endParaRPr lang="en-US" sz="3000" dirty="0"/>
          </a:p>
        </p:txBody>
      </p:sp>
      <p:sp>
        <p:nvSpPr>
          <p:cNvPr id="3" name="Label output server"/>
          <p:cNvSpPr txBox="1"/>
          <p:nvPr/>
        </p:nvSpPr>
        <p:spPr>
          <a:xfrm>
            <a:off x="457200" y="1097280"/>
            <a:ext cx="2743200" cy="274320"/>
          </a:xfrm>
          <a:prstGeom prst="rect">
            <a:avLst/>
          </a:prstGeom>
          <a:noFill/>
          <a:ln/>
        </p:spPr>
        <p:txBody>
          <a:bodyPr wrap="square" lIns="0" tIns="0" rIns="0" bIns="0" rtlCol="0" anchor="ctr"/>
          <a:lstStyle/>
          <a:p>
            <a:pPr indent="0" marL="0">
              <a:buNone/>
            </a:pPr>
            <a:r>
              <a:rPr lang="en-US" sz="1400" b="1" dirty="0">
                <a:solidFill>
                  <a:schemeClr val="tx2"/>
                </a:solidFill>
              </a:rPr>
              <a:t>Server</a:t>
            </a:r>
            <a:endParaRPr lang="en-US" sz="1400" dirty="0"/>
          </a:p>
        </p:txBody>
      </p:sp>
      <p:sp>
        <p:nvSpPr>
          <p:cNvPr id="4" name="Label output client"/>
          <p:cNvSpPr txBox="1"/>
          <p:nvPr/>
        </p:nvSpPr>
        <p:spPr>
          <a:xfrm>
            <a:off x="5029200" y="1097280"/>
            <a:ext cx="2743200" cy="274320"/>
          </a:xfrm>
          <a:prstGeom prst="rect">
            <a:avLst/>
          </a:prstGeom>
          <a:noFill/>
          <a:ln/>
        </p:spPr>
        <p:txBody>
          <a:bodyPr wrap="square" lIns="0" tIns="0" rIns="0" bIns="0" rtlCol="0" anchor="ctr"/>
          <a:lstStyle/>
          <a:p>
            <a:pPr indent="0" marL="0">
              <a:buNone/>
            </a:pPr>
            <a:r>
              <a:rPr lang="en-US" sz="1400" b="1" dirty="0">
                <a:solidFill>
                  <a:schemeClr val="tx2"/>
                </a:solidFill>
              </a:rPr>
              <a:t>Client 1</a:t>
            </a:r>
            <a:endParaRPr lang="en-US" sz="1400" dirty="0"/>
          </a:p>
        </p:txBody>
      </p:sp>
      <p:sp>
        <p:nvSpPr>
          <p:cNvPr id="5" name="Output server (kotak)"/>
          <p:cNvSpPr/>
          <p:nvPr/>
        </p:nvSpPr>
        <p:spPr>
          <a:xfrm>
            <a:off x="457200" y="1417320"/>
            <a:ext cx="4389120" cy="1874520"/>
          </a:xfrm>
          <a:prstGeom prst="roundRect">
            <a:avLst>
              <a:gd name="adj" fmla="val 3902"/>
            </a:avLst>
          </a:prstGeom>
          <a:solidFill>
            <a:schemeClr val="tx2"/>
          </a:solidFill>
          <a:ln w="12700">
            <a:solidFill>
              <a:schemeClr val="tx2"/>
            </a:solidFill>
            <a:prstDash val="solid"/>
          </a:ln>
        </p:spPr>
      </p:sp>
      <p:sp>
        <p:nvSpPr>
          <p:cNvPr id="6" name="Output server"/>
          <p:cNvSpPr txBox="1"/>
          <p:nvPr/>
        </p:nvSpPr>
        <p:spPr>
          <a:xfrm>
            <a:off x="640080" y="1527048"/>
            <a:ext cx="4023360" cy="1655064"/>
          </a:xfrm>
          <a:prstGeom prst="rect">
            <a:avLst/>
          </a:prstGeom>
          <a:noFill/>
          <a:ln/>
        </p:spPr>
        <p:txBody>
          <a:bodyPr wrap="square" lIns="0" tIns="0" rIns="0" bIns="0" rtlCol="0" anchor="t"/>
          <a:lstStyle/>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UDP server siap di 127.0.0.1:6000</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[ANNOUNCER] Belum ada client terdaftar</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Client terdaftar: ('127.0.0.1', 37565)</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Dari ('127.0.0.1', 37565): 'Halo'</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[ANNOUNCER] Pengumuman #1 -&gt; 1 client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Client terdaftar: ('127.0.0.1', 39042)</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[ANNOUNCER] Pengumuman #2 -&gt; 2 client</a:t>
            </a:r>
            <a:endParaRPr lang="en-US" sz="1200" dirty="0"/>
          </a:p>
        </p:txBody>
      </p:sp>
      <p:sp>
        <p:nvSpPr>
          <p:cNvPr id="7" name="Output client (kotak)"/>
          <p:cNvSpPr/>
          <p:nvPr/>
        </p:nvSpPr>
        <p:spPr>
          <a:xfrm>
            <a:off x="5029200" y="1417320"/>
            <a:ext cx="3657600" cy="1874520"/>
          </a:xfrm>
          <a:prstGeom prst="roundRect">
            <a:avLst>
              <a:gd name="adj" fmla="val 3902"/>
            </a:avLst>
          </a:prstGeom>
          <a:solidFill>
            <a:schemeClr val="tx2"/>
          </a:solidFill>
          <a:ln w="12700">
            <a:solidFill>
              <a:schemeClr val="tx2"/>
            </a:solidFill>
            <a:prstDash val="solid"/>
          </a:ln>
        </p:spPr>
      </p:sp>
      <p:sp>
        <p:nvSpPr>
          <p:cNvPr id="8" name="Output client"/>
          <p:cNvSpPr txBox="1"/>
          <p:nvPr/>
        </p:nvSpPr>
        <p:spPr>
          <a:xfrm>
            <a:off x="5212080" y="1527048"/>
            <a:ext cx="3291840" cy="1655064"/>
          </a:xfrm>
          <a:prstGeom prst="rect">
            <a:avLst/>
          </a:prstGeom>
          <a:noFill/>
          <a:ln/>
        </p:spPr>
        <p:txBody>
          <a:bodyPr wrap="square" lIns="0" tIns="0" rIns="0" bIns="0" rtlCol="0" anchor="t"/>
          <a:lstStyle/>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Pesan&gt; Halo</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&lt;&lt; ACK Server: pesan 'Halo' diterima</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&lt;&lt; [PENGUMUMAN #1] Server aktif</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&lt;&lt; [PENGUMUMAN #2] Server aktif</a:t>
            </a:r>
            <a:endParaRPr lang="en-US" sz="1200" dirty="0"/>
          </a:p>
        </p:txBody>
      </p:sp>
      <p:sp>
        <p:nvSpPr>
          <p:cNvPr id="9" name="Hasil utama"/>
          <p:cNvSpPr txBox="1"/>
          <p:nvPr/>
        </p:nvSpPr>
        <p:spPr>
          <a:xfrm>
            <a:off x="457200" y="3520440"/>
            <a:ext cx="8229600" cy="457200"/>
          </a:xfrm>
          <a:prstGeom prst="rect">
            <a:avLst/>
          </a:prstGeom>
          <a:noFill/>
          <a:ln/>
        </p:spPr>
        <p:txBody>
          <a:bodyPr wrap="square" lIns="0" tIns="0" rIns="0" bIns="0" rtlCol="0" anchor="t"/>
          <a:lstStyle/>
          <a:p>
            <a:pPr indent="0" marL="0">
              <a:buNone/>
            </a:pPr>
            <a:r>
              <a:rPr lang="en-US" sz="1600" dirty="0">
                <a:solidFill>
                  <a:schemeClr val="tx1"/>
                </a:solidFill>
              </a:rPr>
              <a:t>Setelah client kedua bergabung, pengumuman berikutnya dikirim ke 2 client sekaligus.</a:t>
            </a:r>
            <a:endParaRPr lang="en-US" sz="1600" dirty="0"/>
          </a:p>
        </p:txBody>
      </p:sp>
      <p:sp>
        <p:nvSpPr>
          <p:cNvPr id="10" name="Catatan output"/>
          <p:cNvSpPr txBox="1"/>
          <p:nvPr/>
        </p:nvSpPr>
        <p:spPr>
          <a:xfrm>
            <a:off x="457200" y="4069080"/>
            <a:ext cx="8229600" cy="274320"/>
          </a:xfrm>
          <a:prstGeom prst="rect">
            <a:avLst/>
          </a:prstGeom>
          <a:noFill/>
          <a:ln/>
        </p:spPr>
        <p:txBody>
          <a:bodyPr wrap="square" lIns="0" tIns="0" rIns="0" bIns="0" rtlCol="0" anchor="ctr"/>
          <a:lstStyle/>
          <a:p>
            <a:pPr indent="0" marL="0">
              <a:buNone/>
            </a:pPr>
            <a:r>
              <a:rPr lang="en-US" sz="1200" dirty="0">
                <a:solidFill>
                  <a:schemeClr val="accent5"/>
                </a:solidFill>
              </a:rPr>
              <a:t>Contoh output, disingkat. Jam pada log dihilangkan.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Kalau client mati mendadak</a:t>
            </a:r>
            <a:endParaRPr lang="en-US" sz="3000" dirty="0"/>
          </a:p>
        </p:txBody>
      </p:sp>
      <p:sp>
        <p:nvSpPr>
          <p:cNvPr id="3" name="Kartu mati 1"/>
          <p:cNvSpPr/>
          <p:nvPr/>
        </p:nvSpPr>
        <p:spPr>
          <a:xfrm>
            <a:off x="457200" y="1234440"/>
            <a:ext cx="3977640" cy="1828800"/>
          </a:xfrm>
          <a:prstGeom prst="roundRect">
            <a:avLst>
              <a:gd name="adj" fmla="val 4000"/>
            </a:avLst>
          </a:prstGeom>
          <a:solidFill>
            <a:schemeClr val="bg2"/>
          </a:solidFill>
          <a:ln w="12700">
            <a:solidFill>
              <a:schemeClr val="bg2"/>
            </a:solidFill>
            <a:prstDash val="solid"/>
          </a:ln>
        </p:spPr>
      </p:sp>
      <p:sp>
        <p:nvSpPr>
          <p:cNvPr id="4" name="Judul mati 1"/>
          <p:cNvSpPr txBox="1"/>
          <p:nvPr/>
        </p:nvSpPr>
        <p:spPr>
          <a:xfrm>
            <a:off x="685800" y="1371600"/>
            <a:ext cx="3520440" cy="320040"/>
          </a:xfrm>
          <a:prstGeom prst="rect">
            <a:avLst/>
          </a:prstGeom>
          <a:noFill/>
          <a:ln/>
        </p:spPr>
        <p:txBody>
          <a:bodyPr wrap="square" lIns="0" tIns="0" rIns="0" bIns="0" rtlCol="0" anchor="ctr"/>
          <a:lstStyle/>
          <a:p>
            <a:pPr indent="0" marL="0">
              <a:buNone/>
            </a:pPr>
            <a:r>
              <a:rPr lang="en-US" sz="1400" b="1" dirty="0">
                <a:solidFill>
                  <a:schemeClr val="accent5"/>
                </a:solidFill>
              </a:rPr>
              <a:t>TCP (Praktikum 1)</a:t>
            </a:r>
            <a:endParaRPr lang="en-US" sz="1400" dirty="0"/>
          </a:p>
        </p:txBody>
      </p:sp>
      <p:sp>
        <p:nvSpPr>
          <p:cNvPr id="5" name="Hasil mati 1"/>
          <p:cNvSpPr txBox="1"/>
          <p:nvPr/>
        </p:nvSpPr>
        <p:spPr>
          <a:xfrm>
            <a:off x="685800" y="1737360"/>
            <a:ext cx="3520440" cy="457200"/>
          </a:xfrm>
          <a:prstGeom prst="rect">
            <a:avLst/>
          </a:prstGeom>
          <a:noFill/>
          <a:ln/>
        </p:spPr>
        <p:txBody>
          <a:bodyPr wrap="square" lIns="0" tIns="0" rIns="0" bIns="0" rtlCol="0" anchor="ctr"/>
          <a:lstStyle/>
          <a:p>
            <a:pPr indent="0" marL="0">
              <a:buNone/>
            </a:pPr>
            <a:r>
              <a:rPr lang="en-US" sz="2200" b="1" dirty="0">
                <a:solidFill>
                  <a:schemeClr val="tx2"/>
                </a:solidFill>
              </a:rPr>
              <a:t>Server langsung tahu</a:t>
            </a:r>
            <a:endParaRPr lang="en-US" sz="2200" dirty="0"/>
          </a:p>
        </p:txBody>
      </p:sp>
      <p:sp>
        <p:nvSpPr>
          <p:cNvPr id="6" name="Penjelasan mati 1"/>
          <p:cNvSpPr txBox="1"/>
          <p:nvPr/>
        </p:nvSpPr>
        <p:spPr>
          <a:xfrm>
            <a:off x="685800" y="2286000"/>
            <a:ext cx="3520440" cy="685800"/>
          </a:xfrm>
          <a:prstGeom prst="rect">
            <a:avLst/>
          </a:prstGeom>
          <a:noFill/>
          <a:ln/>
        </p:spPr>
        <p:txBody>
          <a:bodyPr wrap="square" lIns="0" tIns="0" rIns="0" bIns="0" rtlCol="0" anchor="t"/>
          <a:lstStyle/>
          <a:p>
            <a:pPr indent="0" marL="0">
              <a:buNone/>
            </a:pPr>
            <a:r>
              <a:rPr lang="en-US" sz="1400" dirty="0">
                <a:solidFill>
                  <a:schemeClr val="tx1"/>
                </a:solidFill>
              </a:rPr>
              <a:t>recv() mengembalikan b'' atau ConnectionResetError.</a:t>
            </a:r>
            <a:endParaRPr lang="en-US" sz="1400" dirty="0"/>
          </a:p>
        </p:txBody>
      </p:sp>
      <p:sp>
        <p:nvSpPr>
          <p:cNvPr id="7" name="Kartu mati 2"/>
          <p:cNvSpPr/>
          <p:nvPr/>
        </p:nvSpPr>
        <p:spPr>
          <a:xfrm>
            <a:off x="4709160" y="1234440"/>
            <a:ext cx="3977640" cy="1828800"/>
          </a:xfrm>
          <a:prstGeom prst="roundRect">
            <a:avLst>
              <a:gd name="adj" fmla="val 4000"/>
            </a:avLst>
          </a:prstGeom>
          <a:solidFill>
            <a:schemeClr val="bg2"/>
          </a:solidFill>
          <a:ln w="12700">
            <a:solidFill>
              <a:schemeClr val="bg2"/>
            </a:solidFill>
            <a:prstDash val="solid"/>
          </a:ln>
        </p:spPr>
      </p:sp>
      <p:sp>
        <p:nvSpPr>
          <p:cNvPr id="8" name="Judul mati 2"/>
          <p:cNvSpPr txBox="1"/>
          <p:nvPr/>
        </p:nvSpPr>
        <p:spPr>
          <a:xfrm>
            <a:off x="4937760" y="1371600"/>
            <a:ext cx="3520440" cy="320040"/>
          </a:xfrm>
          <a:prstGeom prst="rect">
            <a:avLst/>
          </a:prstGeom>
          <a:noFill/>
          <a:ln/>
        </p:spPr>
        <p:txBody>
          <a:bodyPr wrap="square" lIns="0" tIns="0" rIns="0" bIns="0" rtlCol="0" anchor="ctr"/>
          <a:lstStyle/>
          <a:p>
            <a:pPr indent="0" marL="0">
              <a:buNone/>
            </a:pPr>
            <a:r>
              <a:rPr lang="en-US" sz="1400" b="1" dirty="0">
                <a:solidFill>
                  <a:schemeClr val="accent5"/>
                </a:solidFill>
              </a:rPr>
              <a:t>UDP (Praktikum 3)</a:t>
            </a:r>
            <a:endParaRPr lang="en-US" sz="1400" dirty="0"/>
          </a:p>
        </p:txBody>
      </p:sp>
      <p:sp>
        <p:nvSpPr>
          <p:cNvPr id="9" name="Hasil mati 2"/>
          <p:cNvSpPr txBox="1"/>
          <p:nvPr/>
        </p:nvSpPr>
        <p:spPr>
          <a:xfrm>
            <a:off x="4937760" y="1737360"/>
            <a:ext cx="3520440" cy="457200"/>
          </a:xfrm>
          <a:prstGeom prst="rect">
            <a:avLst/>
          </a:prstGeom>
          <a:noFill/>
          <a:ln/>
        </p:spPr>
        <p:txBody>
          <a:bodyPr wrap="square" lIns="0" tIns="0" rIns="0" bIns="0" rtlCol="0" anchor="ctr"/>
          <a:lstStyle/>
          <a:p>
            <a:pPr indent="0" marL="0">
              <a:buNone/>
            </a:pPr>
            <a:r>
              <a:rPr lang="en-US" sz="2200" b="1" dirty="0">
                <a:solidFill>
                  <a:schemeClr val="tx2"/>
                </a:solidFill>
              </a:rPr>
              <a:t>Server tidak tahu</a:t>
            </a:r>
            <a:endParaRPr lang="en-US" sz="2200" dirty="0"/>
          </a:p>
        </p:txBody>
      </p:sp>
      <p:sp>
        <p:nvSpPr>
          <p:cNvPr id="10" name="Penjelasan mati 2"/>
          <p:cNvSpPr txBox="1"/>
          <p:nvPr/>
        </p:nvSpPr>
        <p:spPr>
          <a:xfrm>
            <a:off x="4937760" y="2286000"/>
            <a:ext cx="3520440" cy="685800"/>
          </a:xfrm>
          <a:prstGeom prst="rect">
            <a:avLst/>
          </a:prstGeom>
          <a:noFill/>
          <a:ln/>
        </p:spPr>
        <p:txBody>
          <a:bodyPr wrap="square" lIns="0" tIns="0" rIns="0" bIns="0" rtlCol="0" anchor="t"/>
          <a:lstStyle/>
          <a:p>
            <a:pPr indent="0" marL="0">
              <a:buNone/>
            </a:pPr>
            <a:r>
              <a:rPr lang="en-US" sz="1400" dirty="0">
                <a:solidFill>
                  <a:schemeClr val="tx1"/>
                </a:solidFill>
              </a:rPr>
              <a:t>Tidak ada koneksi yang putus. Log tetap menulis pengumuman dikirim ke 1 client.</a:t>
            </a:r>
            <a:endParaRPr lang="en-US" sz="1400" dirty="0"/>
          </a:p>
        </p:txBody>
      </p:sp>
      <p:sp>
        <p:nvSpPr>
          <p:cNvPr id="11" name="Jawaban soal 4"/>
          <p:cNvSpPr txBox="1"/>
          <p:nvPr/>
        </p:nvSpPr>
        <p:spPr>
          <a:xfrm>
            <a:off x="457200" y="3291840"/>
            <a:ext cx="8229600" cy="868680"/>
          </a:xfrm>
          <a:prstGeom prst="roundRect">
            <a:avLst>
              <a:gd name="adj" fmla="val 8421"/>
            </a:avLst>
          </a:prstGeom>
          <a:solidFill>
            <a:schemeClr val="bg1"/>
          </a:solidFill>
          <a:ln w="19050">
            <a:solidFill>
              <a:schemeClr val="accent1"/>
            </a:solidFill>
          </a:ln>
        </p:spPr>
        <p:txBody>
          <a:bodyPr wrap="square" lIns="152400" tIns="152400" rIns="152400" bIns="152400" rtlCol="0" anchor="ctr"/>
          <a:lstStyle/>
          <a:p>
            <a:pPr indent="0" marL="0">
              <a:buNone/>
            </a:pPr>
            <a:r>
              <a:rPr lang="en-US" sz="1400" b="1" dirty="0">
                <a:solidFill>
                  <a:schemeClr val="tx1"/>
                </a:solidFill>
              </a:rPr>
              <a:t>Soal 4: </a:t>
            </a:r>
            <a:pPr indent="0" marL="0">
              <a:buNone/>
            </a:pPr>
            <a:r>
              <a:rPr lang="en-US" sz="1400" dirty="0">
                <a:solidFill>
                  <a:schemeClr val="tx1"/>
                </a:solidFill>
              </a:rPr>
              <a:t>UDP tidak menjamin pesan sampai dan tidak memberi tahu kalau lawan hilang. Hasil uji: setelah client dimatikan paksa, announcer tetap mengirim ke alamat yang sudah mati. Solusinya dibuat di level aplikasi, yaitu heartbeat.</a:t>
            </a:r>
            <a:endParaRPr lang="en-US" sz="1400" dirty="0"/>
          </a:p>
        </p:txBody>
      </p:sp>
      <p:sp>
        <p:nvSpPr>
          <p:cNvPr id="12" name="Catatan Windows"/>
          <p:cNvSpPr txBox="1"/>
          <p:nvPr/>
        </p:nvSpPr>
        <p:spPr>
          <a:xfrm>
            <a:off x="457200" y="4297680"/>
            <a:ext cx="7680960" cy="411480"/>
          </a:xfrm>
          <a:prstGeom prst="rect">
            <a:avLst/>
          </a:prstGeom>
          <a:noFill/>
          <a:ln/>
        </p:spPr>
        <p:txBody>
          <a:bodyPr wrap="square" lIns="0" tIns="0" rIns="0" bIns="0" rtlCol="0" anchor="t"/>
          <a:lstStyle/>
          <a:p>
            <a:pPr indent="0" marL="0">
              <a:buNone/>
            </a:pPr>
            <a:r>
              <a:rPr lang="en-US" sz="1200" dirty="0">
                <a:solidFill>
                  <a:schemeClr val="accent5"/>
                </a:solidFill>
              </a:rPr>
              <a:t>Di Windows, mengirim ke client yang mati bisa memicu ConnectionResetError pada recvfrom() berikutnya. Sudah ditangani di kode.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Heartbeat dan timeout</a:t>
            </a:r>
            <a:endParaRPr lang="en-US" sz="3000" dirty="0"/>
          </a:p>
        </p:txBody>
      </p:sp>
      <p:sp>
        <p:nvSpPr>
          <p:cNvPr id="3" name="Kartu heartbeat 1"/>
          <p:cNvSpPr/>
          <p:nvPr/>
        </p:nvSpPr>
        <p:spPr>
          <a:xfrm>
            <a:off x="457200" y="1234440"/>
            <a:ext cx="2560320" cy="2148840"/>
          </a:xfrm>
          <a:prstGeom prst="roundRect">
            <a:avLst>
              <a:gd name="adj" fmla="val 3404"/>
            </a:avLst>
          </a:prstGeom>
          <a:solidFill>
            <a:schemeClr val="bg2"/>
          </a:solidFill>
          <a:ln w="12700">
            <a:solidFill>
              <a:schemeClr val="bg2"/>
            </a:solidFill>
            <a:prstDash val="solid"/>
          </a:ln>
        </p:spPr>
      </p:sp>
      <p:sp>
        <p:nvSpPr>
          <p:cNvPr id="4" name="Nomor heartbeat 1"/>
          <p:cNvSpPr txBox="1"/>
          <p:nvPr/>
        </p:nvSpPr>
        <p:spPr>
          <a:xfrm>
            <a:off x="640080" y="13716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Judul heartbeat 1"/>
          <p:cNvSpPr txBox="1"/>
          <p:nvPr/>
        </p:nvSpPr>
        <p:spPr>
          <a:xfrm>
            <a:off x="640080" y="1965960"/>
            <a:ext cx="2194560" cy="320040"/>
          </a:xfrm>
          <a:prstGeom prst="rect">
            <a:avLst/>
          </a:prstGeom>
          <a:noFill/>
          <a:ln/>
        </p:spPr>
        <p:txBody>
          <a:bodyPr wrap="square" lIns="0" tIns="0" rIns="0" bIns="0" rtlCol="0" anchor="ctr"/>
          <a:lstStyle/>
          <a:p>
            <a:pPr indent="0" marL="0">
              <a:buNone/>
            </a:pPr>
            <a:r>
              <a:rPr lang="en-US" sz="1600" b="1" dirty="0">
                <a:solidFill>
                  <a:schemeClr val="tx2"/>
                </a:solidFill>
              </a:rPr>
              <a:t>Simpan waktu</a:t>
            </a:r>
            <a:endParaRPr lang="en-US" sz="1600" dirty="0"/>
          </a:p>
        </p:txBody>
      </p:sp>
      <p:sp>
        <p:nvSpPr>
          <p:cNvPr id="6" name="Isi heartbeat 1"/>
          <p:cNvSpPr txBox="1"/>
          <p:nvPr/>
        </p:nvSpPr>
        <p:spPr>
          <a:xfrm>
            <a:off x="640080" y="2331720"/>
            <a:ext cx="2194560" cy="960120"/>
          </a:xfrm>
          <a:prstGeom prst="rect">
            <a:avLst/>
          </a:prstGeom>
          <a:noFill/>
          <a:ln/>
        </p:spPr>
        <p:txBody>
          <a:bodyPr wrap="square" lIns="0" tIns="0" rIns="0" bIns="0" rtlCol="0" anchor="t"/>
          <a:lstStyle/>
          <a:p>
            <a:pPr indent="0" marL="0">
              <a:buNone/>
            </a:pPr>
            <a:r>
              <a:rPr lang="en-US" sz="1400" dirty="0">
                <a:solidFill>
                  <a:schemeClr val="tx1"/>
                </a:solidFill>
              </a:rPr>
              <a:t>known_clients berubah dari set menjadi dict {alamat: waktu terakhir aktif}.</a:t>
            </a:r>
            <a:endParaRPr lang="en-US" sz="1400" dirty="0"/>
          </a:p>
        </p:txBody>
      </p:sp>
      <p:sp>
        <p:nvSpPr>
          <p:cNvPr id="7" name="Kartu heartbeat 2"/>
          <p:cNvSpPr/>
          <p:nvPr/>
        </p:nvSpPr>
        <p:spPr>
          <a:xfrm>
            <a:off x="3291840" y="1234440"/>
            <a:ext cx="2560320" cy="2148840"/>
          </a:xfrm>
          <a:prstGeom prst="roundRect">
            <a:avLst>
              <a:gd name="adj" fmla="val 3404"/>
            </a:avLst>
          </a:prstGeom>
          <a:solidFill>
            <a:schemeClr val="bg2"/>
          </a:solidFill>
          <a:ln w="12700">
            <a:solidFill>
              <a:schemeClr val="bg2"/>
            </a:solidFill>
            <a:prstDash val="solid"/>
          </a:ln>
        </p:spPr>
      </p:sp>
      <p:sp>
        <p:nvSpPr>
          <p:cNvPr id="8" name="Nomor heartbeat 2"/>
          <p:cNvSpPr txBox="1"/>
          <p:nvPr/>
        </p:nvSpPr>
        <p:spPr>
          <a:xfrm>
            <a:off x="3474720" y="13716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Judul heartbeat 2"/>
          <p:cNvSpPr txBox="1"/>
          <p:nvPr/>
        </p:nvSpPr>
        <p:spPr>
          <a:xfrm>
            <a:off x="3474720" y="1965960"/>
            <a:ext cx="2194560" cy="320040"/>
          </a:xfrm>
          <a:prstGeom prst="rect">
            <a:avLst/>
          </a:prstGeom>
          <a:noFill/>
          <a:ln/>
        </p:spPr>
        <p:txBody>
          <a:bodyPr wrap="square" lIns="0" tIns="0" rIns="0" bIns="0" rtlCol="0" anchor="ctr"/>
          <a:lstStyle/>
          <a:p>
            <a:pPr indent="0" marL="0">
              <a:buNone/>
            </a:pPr>
            <a:r>
              <a:rPr lang="en-US" sz="1600" b="1" dirty="0">
                <a:solidFill>
                  <a:schemeClr val="tx2"/>
                </a:solidFill>
              </a:rPr>
              <a:t>Perbarui tiap pesan</a:t>
            </a:r>
            <a:endParaRPr lang="en-US" sz="1600" dirty="0"/>
          </a:p>
        </p:txBody>
      </p:sp>
      <p:sp>
        <p:nvSpPr>
          <p:cNvPr id="10" name="Isi heartbeat 2"/>
          <p:cNvSpPr txBox="1"/>
          <p:nvPr/>
        </p:nvSpPr>
        <p:spPr>
          <a:xfrm>
            <a:off x="3474720" y="2331720"/>
            <a:ext cx="2194560" cy="960120"/>
          </a:xfrm>
          <a:prstGeom prst="rect">
            <a:avLst/>
          </a:prstGeom>
          <a:noFill/>
          <a:ln/>
        </p:spPr>
        <p:txBody>
          <a:bodyPr wrap="square" lIns="0" tIns="0" rIns="0" bIns="0" rtlCol="0" anchor="t"/>
          <a:lstStyle/>
          <a:p>
            <a:pPr indent="0" marL="0">
              <a:buNone/>
            </a:pPr>
            <a:r>
              <a:rPr lang="en-US" sz="1400" dirty="0">
                <a:solidFill>
                  <a:schemeClr val="tx1"/>
                </a:solidFill>
              </a:rPr>
              <a:t>Setiap pesan dari client, termasuk ping, memperbarui waktunya.</a:t>
            </a:r>
            <a:endParaRPr lang="en-US" sz="1400" dirty="0"/>
          </a:p>
        </p:txBody>
      </p:sp>
      <p:sp>
        <p:nvSpPr>
          <p:cNvPr id="11" name="Kartu heartbeat 3"/>
          <p:cNvSpPr/>
          <p:nvPr/>
        </p:nvSpPr>
        <p:spPr>
          <a:xfrm>
            <a:off x="6126480" y="1234440"/>
            <a:ext cx="2560320" cy="2148840"/>
          </a:xfrm>
          <a:prstGeom prst="roundRect">
            <a:avLst>
              <a:gd name="adj" fmla="val 3404"/>
            </a:avLst>
          </a:prstGeom>
          <a:solidFill>
            <a:schemeClr val="bg2"/>
          </a:solidFill>
          <a:ln w="12700">
            <a:solidFill>
              <a:schemeClr val="bg2"/>
            </a:solidFill>
            <a:prstDash val="solid"/>
          </a:ln>
        </p:spPr>
      </p:sp>
      <p:sp>
        <p:nvSpPr>
          <p:cNvPr id="12" name="Nomor heartbeat 3"/>
          <p:cNvSpPr txBox="1"/>
          <p:nvPr/>
        </p:nvSpPr>
        <p:spPr>
          <a:xfrm>
            <a:off x="6309360" y="13716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Judul heartbeat 3"/>
          <p:cNvSpPr txBox="1"/>
          <p:nvPr/>
        </p:nvSpPr>
        <p:spPr>
          <a:xfrm>
            <a:off x="6309360" y="1965960"/>
            <a:ext cx="2194560" cy="320040"/>
          </a:xfrm>
          <a:prstGeom prst="rect">
            <a:avLst/>
          </a:prstGeom>
          <a:noFill/>
          <a:ln/>
        </p:spPr>
        <p:txBody>
          <a:bodyPr wrap="square" lIns="0" tIns="0" rIns="0" bIns="0" rtlCol="0" anchor="ctr"/>
          <a:lstStyle/>
          <a:p>
            <a:pPr indent="0" marL="0">
              <a:buNone/>
            </a:pPr>
            <a:r>
              <a:rPr lang="en-US" sz="1600" b="1" dirty="0">
                <a:solidFill>
                  <a:schemeClr val="tx2"/>
                </a:solidFill>
              </a:rPr>
              <a:t>Hapus yang diam</a:t>
            </a:r>
            <a:endParaRPr lang="en-US" sz="1600" dirty="0"/>
          </a:p>
        </p:txBody>
      </p:sp>
      <p:sp>
        <p:nvSpPr>
          <p:cNvPr id="14" name="Isi heartbeat 3"/>
          <p:cNvSpPr txBox="1"/>
          <p:nvPr/>
        </p:nvSpPr>
        <p:spPr>
          <a:xfrm>
            <a:off x="6309360" y="2331720"/>
            <a:ext cx="2194560" cy="960120"/>
          </a:xfrm>
          <a:prstGeom prst="rect">
            <a:avLst/>
          </a:prstGeom>
          <a:noFill/>
          <a:ln/>
        </p:spPr>
        <p:txBody>
          <a:bodyPr wrap="square" lIns="0" tIns="0" rIns="0" bIns="0" rtlCol="0" anchor="t"/>
          <a:lstStyle/>
          <a:p>
            <a:pPr indent="0" marL="0">
              <a:buNone/>
            </a:pPr>
            <a:r>
              <a:rPr lang="en-US" sz="1400" dirty="0">
                <a:solidFill>
                  <a:schemeClr val="tx1"/>
                </a:solidFill>
              </a:rPr>
              <a:t>timeout_checker menghapus client yang diam lebih dari 30 detik.</a:t>
            </a:r>
            <a:endParaRPr lang="en-US" sz="1400" dirty="0"/>
          </a:p>
        </p:txBody>
      </p:sp>
      <p:sp>
        <p:nvSpPr>
          <p:cNvPr id="15" name="Jawaban soal 5"/>
          <p:cNvSpPr txBox="1"/>
          <p:nvPr/>
        </p:nvSpPr>
        <p:spPr>
          <a:xfrm>
            <a:off x="457200" y="3611880"/>
            <a:ext cx="8229600" cy="777240"/>
          </a:xfrm>
          <a:prstGeom prst="roundRect">
            <a:avLst>
              <a:gd name="adj" fmla="val 9412"/>
            </a:avLst>
          </a:prstGeom>
          <a:solidFill>
            <a:schemeClr val="bg1"/>
          </a:solidFill>
          <a:ln w="19050">
            <a:solidFill>
              <a:schemeClr val="accent1"/>
            </a:solidFill>
          </a:ln>
        </p:spPr>
        <p:txBody>
          <a:bodyPr wrap="square" lIns="152400" tIns="152400" rIns="152400" bIns="152400" rtlCol="0" anchor="ctr"/>
          <a:lstStyle/>
          <a:p>
            <a:pPr indent="0" marL="0">
              <a:buNone/>
            </a:pPr>
            <a:r>
              <a:rPr lang="en-US" sz="1400" b="1" dirty="0">
                <a:solidFill>
                  <a:schemeClr val="tx1"/>
                </a:solidFill>
              </a:rPr>
              <a:t>Soal 5: </a:t>
            </a:r>
            <a:pPr indent="0" marL="0">
              <a:buNone/>
            </a:pPr>
            <a:r>
              <a:rPr lang="en-US" sz="1400" dirty="0">
                <a:solidFill>
                  <a:schemeClr val="tx1"/>
                </a:solidFill>
              </a:rPr>
              <a:t>pada uji dengan timeout 6 detik, client yang hanya mengirim sekali dihapus dari daftar, sedangkan client yang mengirim ping tetap terdaftar.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Kesimpulan</a:t>
            </a:r>
            <a:endParaRPr lang="en-US" sz="3000" dirty="0"/>
          </a:p>
        </p:txBody>
      </p:sp>
      <p:sp>
        <p:nvSpPr>
          <p:cNvPr id="3" name="Nomor 1"/>
          <p:cNvSpPr txBox="1"/>
          <p:nvPr/>
        </p:nvSpPr>
        <p:spPr>
          <a:xfrm>
            <a:off x="548640" y="128016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4" name="Poin kesimpulan 1"/>
          <p:cNvSpPr txBox="1"/>
          <p:nvPr/>
        </p:nvSpPr>
        <p:spPr>
          <a:xfrm>
            <a:off x="1371600" y="1234440"/>
            <a:ext cx="7223760" cy="640080"/>
          </a:xfrm>
          <a:prstGeom prst="rect">
            <a:avLst/>
          </a:prstGeom>
          <a:noFill/>
          <a:ln/>
        </p:spPr>
        <p:txBody>
          <a:bodyPr wrap="square" lIns="0" tIns="0" rIns="0" bIns="0" rtlCol="0" anchor="ctr"/>
          <a:lstStyle/>
          <a:p>
            <a:pPr indent="0" marL="0">
              <a:buNone/>
            </a:pPr>
            <a:r>
              <a:rPr lang="en-US" sz="1800" dirty="0">
                <a:solidFill>
                  <a:schemeClr val="bg1"/>
                </a:solidFill>
              </a:rPr>
              <a:t>UDP tidak punya koneksi: cukup bind, lalu recvfrom dan sendto dengan alamat.</a:t>
            </a:r>
            <a:endParaRPr lang="en-US" sz="1800" dirty="0"/>
          </a:p>
        </p:txBody>
      </p:sp>
      <p:sp>
        <p:nvSpPr>
          <p:cNvPr id="5" name="Nomor 2"/>
          <p:cNvSpPr txBox="1"/>
          <p:nvPr/>
        </p:nvSpPr>
        <p:spPr>
          <a:xfrm>
            <a:off x="548640" y="214884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6" name="Poin kesimpulan 2"/>
          <p:cNvSpPr txBox="1"/>
          <p:nvPr/>
        </p:nvSpPr>
        <p:spPr>
          <a:xfrm>
            <a:off x="1371600" y="2103120"/>
            <a:ext cx="7223760" cy="640080"/>
          </a:xfrm>
          <a:prstGeom prst="rect">
            <a:avLst/>
          </a:prstGeom>
          <a:noFill/>
          <a:ln/>
        </p:spPr>
        <p:txBody>
          <a:bodyPr wrap="square" lIns="0" tIns="0" rIns="0" bIns="0" rtlCol="0" anchor="ctr"/>
          <a:lstStyle/>
          <a:p>
            <a:pPr indent="0" marL="0">
              <a:buNone/>
            </a:pPr>
            <a:r>
              <a:rPr lang="en-US" sz="1800" dirty="0">
                <a:solidFill>
                  <a:schemeClr val="bg1"/>
                </a:solidFill>
              </a:rPr>
              <a:t>Dua thread membuat server menerima pesan dan mengirim pengumuman bersamaan, dengan Lock menjaga daftar client.</a:t>
            </a:r>
            <a:endParaRPr lang="en-US" sz="1800" dirty="0"/>
          </a:p>
        </p:txBody>
      </p:sp>
      <p:sp>
        <p:nvSpPr>
          <p:cNvPr id="7" name="Nomor 3"/>
          <p:cNvSpPr txBox="1"/>
          <p:nvPr/>
        </p:nvSpPr>
        <p:spPr>
          <a:xfrm>
            <a:off x="548640" y="301752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8" name="Poin kesimpulan 3"/>
          <p:cNvSpPr txBox="1"/>
          <p:nvPr/>
        </p:nvSpPr>
        <p:spPr>
          <a:xfrm>
            <a:off x="1371600" y="2971800"/>
            <a:ext cx="7223760" cy="640080"/>
          </a:xfrm>
          <a:prstGeom prst="rect">
            <a:avLst/>
          </a:prstGeom>
          <a:noFill/>
          <a:ln/>
        </p:spPr>
        <p:txBody>
          <a:bodyPr wrap="square" lIns="0" tIns="0" rIns="0" bIns="0" rtlCol="0" anchor="ctr"/>
          <a:lstStyle/>
          <a:p>
            <a:pPr indent="0" marL="0">
              <a:buNone/>
            </a:pPr>
            <a:r>
              <a:rPr lang="en-US" sz="1800" dirty="0">
                <a:solidFill>
                  <a:schemeClr val="bg1"/>
                </a:solidFill>
              </a:rPr>
              <a:t>UDP tidak menjamin dan tidak memberi tahu, jadi heartbeat dibuat di level aplikasi.</a:t>
            </a:r>
            <a:endParaRPr lang="en-US" sz="1800" dirty="0"/>
          </a:p>
        </p:txBody>
      </p:sp>
      <p:sp>
        <p:nvSpPr>
          <p:cNvPr id="9" name="Penutup"/>
          <p:cNvSpPr txBox="1"/>
          <p:nvPr/>
        </p:nvSpPr>
        <p:spPr>
          <a:xfrm>
            <a:off x="548640" y="4114800"/>
            <a:ext cx="7772400" cy="457200"/>
          </a:xfrm>
          <a:prstGeom prst="rect">
            <a:avLst/>
          </a:prstGeom>
          <a:noFill/>
          <a:ln/>
        </p:spPr>
        <p:txBody>
          <a:bodyPr wrap="square" lIns="0" tIns="0" rIns="0" bIns="0" rtlCol="0" anchor="ctr"/>
          <a:lstStyle/>
          <a:p>
            <a:pPr indent="0" marL="0">
              <a:buNone/>
            </a:pPr>
            <a:r>
              <a:rPr lang="en-US" sz="2400" b="1" dirty="0">
                <a:solidFill>
                  <a:schemeClr val="accent6"/>
                </a:solidFill>
              </a:rPr>
              <a:t>Terima kasih. Ada pertanyaan?</a:t>
            </a:r>
            <a:endParaRPr lang="en-US" sz="2400" dirty="0"/>
          </a:p>
        </p:txBody>
      </p:sp>
    </p:spTree>
  </p:cSld>
  <p:clrMapOvr>
    <a:masterClrMapping/>
  </p:clrMapOvr>
</p:sld>
</file>

<file path=ppt/theme/theme1.xml><?xml version="1.0" encoding="utf-8"?>
<a:theme xmlns:a="http://schemas.openxmlformats.org/drawingml/2006/main" name="Praktikum Jaringan">
  <a:themeElements>
    <a:clrScheme name="Praktikum Jaringan">
      <a:dk1>
        <a:srgbClr val="1B2A41"/>
      </a:dk1>
      <a:lt1>
        <a:srgbClr val="FFFFFF"/>
      </a:lt1>
      <a:dk2>
        <a:srgbClr val="0B2545"/>
      </a:dk2>
      <a:lt2>
        <a:srgbClr val="EEF3F8"/>
      </a:lt2>
      <a:accent1>
        <a:srgbClr val="0E9AA7"/>
      </a:accent1>
      <a:accent2>
        <a:srgbClr val="F2A541"/>
      </a:accent2>
      <a:accent3>
        <a:srgbClr val="C23B22"/>
      </a:accent3>
      <a:accent4>
        <a:srgbClr val="2F5F96"/>
      </a:accent4>
      <a:accent5>
        <a:srgbClr val="5B6B7F"/>
      </a:accent5>
      <a:accent6>
        <a:srgbClr val="A9C0D9"/>
      </a:accent6>
      <a:hlink>
        <a:srgbClr val="0E9AA7"/>
      </a:hlink>
      <a:folHlink>
        <a:srgbClr val="5B6B7F"/>
      </a:folHlink>
    </a:clrScheme>
    <a:fontScheme name="Praktikum Jaring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Praktikum 3: UDP Asinkron dengan Multi-Threading</dc:title>
  <dc:subject>PptxGenJS Presentation</dc:subject>
  <dc:creator>Van Jouvi</dc:creator>
  <cp:lastModifiedBy>Van Jouvi</cp:lastModifiedBy>
  <cp:revision>1</cp:revision>
  <dcterms:created xsi:type="dcterms:W3CDTF">2026-10-06T16:10:34Z</dcterms:created>
  <dcterms:modified xsi:type="dcterms:W3CDTF">2026-10-06T16:10:34Z</dcterms:modified>
</cp:coreProperties>
</file>
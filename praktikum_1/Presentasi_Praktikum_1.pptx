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B3152309-C504-A1BB-BE98-77DE29316F67}">
          <p14:sldIdLst>
            <p14:sldId id="256"/>
            <p14:sldId id="257"/>
          </p14:sldIdLst>
        </p14:section>
        <p14:section name="Konsep" id="{766C1C61-854C-5804-A73A-94994AB6C63D}">
          <p14:sldIdLst>
            <p14:sldId id="258"/>
            <p14:sldId id="259"/>
          </p14:sldIdLst>
        </p14:section>
        <p14:section name="Implementasi" id="{13D43C7E-1A02-F29C-3D6F-1B25773D4EE1}">
          <p14:sldIdLst>
            <p14:sldId id="260"/>
            <p14:sldId id="261"/>
            <p14:sldId id="262"/>
            <p14:sldId id="263"/>
          </p14:sldIdLst>
        </p14:section>
        <p14:section name="Hasil" id="{9E9C47C6-8801-9FDE-EE94-3074D63AAF98}">
          <p14:sldIdLst>
            <p14:sldId id="264"/>
            <p14:sldId id="265"/>
          </p14:sldIdLst>
        </p14:section>
        <p14:section name="Penutup" id="{68157EAA-242F-5C60-BDED-EAA44BC0DF3F}">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4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5382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Sebutkan nama dan topik: praktikum 1 adalah membuat dua program Python, server.py dan client.py, yang berkomunikasi lewat TCP. Tekankan bahwa fokusnya memahami cara kerja socket, bukan sekadar membuat program yang jalan.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singkat dua program. Server menunggu dan membalas, client menghubungi dan mengirim. Di bagian bawah ada empat konsep yang akan dibahas satu per satu: socket TCP, urutan bind listen accept, kirim dan terima data, dan penanganan error.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Pakai analogi telepon kantor. IP adalah alamat gedungnya, port adalah nomor ekstensi, socket adalah pesawat teleponnya. Port penting karena satu komputer menjalankan banyak program jaringan sekaligus, dan data harus sampai ke program yang benar.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 dari atas ke bawah. Server menyiapkan diri dulu: socket, bind, listen, lalu accept dan menunggu. Client cukup socket lalu connect. Setelah terhubung, client kirim pesan, server menerima dan membalas. Ketika client close, server membaca b kosong dan tahu client sudah selesai.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Tunjukkan empat langkah server. AF_INET artinya IPv4, SOCK_STREAM artinya TCP. bind memasang socket ke alamat dan port supaya client tahu harus menghubungi ke mana. listen menandai socket siap menerima koneksi, angka 5 adalah panjang antrean. accept bersifat blocking: program berhenti di situ sampai ada client. accept mengembalikan socket baru, conn, khusus untuk client itu.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Pesan harus diubah ke bytes dengan encode sebelum dikirim, dan diubah balik dengan decode saat diterima. sendall lebih aman dari send karena send boleh mengirim sebagian data saja. recv 1024 artinya membaca paling banyak 1024 byte, data yang lebih besar datang dalam beberapa potongan. Kalau recv mengembalikan b kosong, itu tanda lawan menutup koneksi, dan ini yang dipakai server untuk keluar dari loop.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Kiri: three-way handshake saat koneksi dibuka. Client kirim SYN, server jawab SYN-ACK, client balas ACK. Kanan: four-way handshake saat koneksi ditutup, masing-masing pihak mengirim FIN dan dibalas ACK. Poin penting dari dosen: handshake ini dikerjakan oleh sistem operasi. connect di Python hanya memicunya, dan accept tidak ikut berjabat tangan, accept hanya mengambil koneksi yang sudah selesai dari antrean.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Lima skenario yang sudah diuji. Server mati atau port salah ditangkap sebagai ConnectionRefusedError. Server diam ditangani timeout 5 detik di client. Client mati mendadak membuat server menerima ConnectionResetError, ditangkap lewat ConnectionError sehingga server tetap hidup. Client keluar normal terbaca sebagai recv kosong. Port bentrok dilaporkan dengan pesan jelas, dan SO_REUSEADDR membantu saat server di-restart.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jalannya program. Di kiri log server: server siap, client terhubung, dua pesan diterima, lalu client menutup koneksi. Di kanan sisi client. Poin yang ditunjukkan: server tidak berhenti setelah satu client selesai. Sebaiknya ganti isi slide ini dengan screenshot terminal sendiri saat demo.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hal yang ditemukan saat pengujian. Satu: pesan lebih besar dari buffer terpotong jadi beberapa recv. Dua: TCP tidak menjaga batas pesan, jadi dua pengiriman bisa tergabung jadi satu penerimaan. Ini sebabnya protokol aplikasi butuh aturan batas pesan. Tiga: client yang keluar normal dan client yang terputus paksa terlihat berbeda di server. Sebutkan bahwa hasil bisa berbeda antar sistem operasi, dan sebaiknya ganti dengan hasil percobaan sendiri di laptop.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 ini sengaja sederhana. Keterbatasan utamanya hanya melayani satu client sekaligus, karena accept dan recv bersifat blocking. Itu yang akan diselesaikan di praktikum multi client dengan threading. Untuk pesan, bisa ditambah message framing supaya batas pesan jelas.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poin penutup. Server: socket, bind, listen, accept. Data TCP berupa bytes tanpa batas pesan. Error koneksi harus ditangani. Lalu buka sesi tanya jawab.</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txBody>
          <a:bodyPr/>
          <a:lstStyle/>
          <a:p>
            <a:endParaRPr lang="en-US"/>
          </a:p>
        </p:txBody>
      </p:sp>
      <p:sp>
        <p:nvSpPr>
          <p:cNvPr id="3" name="Text 1"/>
          <p:cNvSpPr>
            <a:spLocks noGrp="1"/>
          </p:cNvSpPr>
          <p:nvPr>
            <p:ph type="title" idx="101" hasCustomPrompt="1"/>
          </p:nvPr>
        </p:nvSpPr>
        <p:spPr>
          <a:xfrm>
            <a:off x="640080" y="1234440"/>
            <a:ext cx="4937760" cy="155448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endParaRPr lang="en-US" sz="3800" dirty="0"/>
          </a:p>
        </p:txBody>
      </p:sp>
      <p:sp>
        <p:nvSpPr>
          <p:cNvPr id="4" name="Text 1"/>
          <p:cNvSpPr>
            <a:spLocks noGrp="1"/>
          </p:cNvSpPr>
          <p:nvPr>
            <p:ph type="body" idx="102" hasCustomPrompt="1"/>
          </p:nvPr>
        </p:nvSpPr>
        <p:spPr>
          <a:xfrm>
            <a:off x="640080" y="2926080"/>
            <a:ext cx="4937760" cy="411480"/>
          </a:xfrm>
          <a:prstGeom prst="rect">
            <a:avLst/>
          </a:prstGeom>
          <a:noFill/>
          <a:ln/>
        </p:spPr>
        <p:txBody>
          <a:bodyPr wrap="square" rtlCol="0"/>
          <a:lstStyle>
            <a:lvl1pPr marL="0" indent="0" algn="l">
              <a:buNone/>
              <a:defRPr lang="en-US" sz="1800" dirty="0">
                <a:solidFill>
                  <a:schemeClr val="accent6"/>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457200" y="274320"/>
            <a:ext cx="8229600" cy="68580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1234440"/>
            <a:ext cx="4937760" cy="1554480"/>
          </a:xfrm>
          <a:prstGeom prst="rect">
            <a:avLst/>
          </a:prstGeom>
          <a:noFill/>
          <a:ln/>
        </p:spPr>
        <p:txBody>
          <a:bodyPr wrap="square" lIns="0" tIns="0" rIns="0" bIns="0" rtlCol="0" anchor="b"/>
          <a:lstStyle/>
          <a:p>
            <a:pPr marL="0" indent="0" algn="l">
              <a:buNone/>
            </a:pPr>
            <a:r>
              <a:rPr lang="en-US" sz="3800" b="1" dirty="0">
                <a:solidFill>
                  <a:schemeClr val="bg1"/>
                </a:solidFill>
              </a:rPr>
              <a:t>Praktikum 1: TCP Client-Server Sederhana</a:t>
            </a:r>
            <a:endParaRPr lang="en-US" sz="3800" dirty="0"/>
          </a:p>
        </p:txBody>
      </p:sp>
      <p:sp>
        <p:nvSpPr>
          <p:cNvPr id="3" name="Text 1"/>
          <p:cNvSpPr>
            <a:spLocks noGrp="1"/>
          </p:cNvSpPr>
          <p:nvPr>
            <p:ph type="body" idx="102" hasCustomPrompt="1"/>
          </p:nvPr>
        </p:nvSpPr>
        <p:spPr>
          <a:xfrm>
            <a:off x="640080" y="2926080"/>
            <a:ext cx="4937760" cy="411480"/>
          </a:xfrm>
          <a:prstGeom prst="rect">
            <a:avLst/>
          </a:prstGeom>
          <a:noFill/>
          <a:ln/>
        </p:spPr>
        <p:txBody>
          <a:bodyPr wrap="square" lIns="0" tIns="0" rIns="0" bIns="0" rtlCol="0" anchor="t"/>
          <a:lstStyle/>
          <a:p>
            <a:pPr marL="0" indent="0" algn="l">
              <a:buNone/>
            </a:pPr>
            <a:r>
              <a:rPr lang="en-US" sz="1800" dirty="0">
                <a:solidFill>
                  <a:schemeClr val="accent6"/>
                </a:solidFill>
              </a:rPr>
              <a:t>Mata Kuliah Network Programming</a:t>
            </a:r>
            <a:endParaRPr lang="en-US" sz="1800" dirty="0"/>
          </a:p>
        </p:txBody>
      </p:sp>
      <p:sp>
        <p:nvSpPr>
          <p:cNvPr id="4" name="Identitas penyaji"/>
          <p:cNvSpPr txBox="1"/>
          <p:nvPr/>
        </p:nvSpPr>
        <p:spPr>
          <a:xfrm>
            <a:off x="640080" y="3657600"/>
            <a:ext cx="4937760" cy="868680"/>
          </a:xfrm>
          <a:prstGeom prst="rect">
            <a:avLst/>
          </a:prstGeom>
          <a:noFill/>
          <a:ln/>
        </p:spPr>
        <p:txBody>
          <a:bodyPr wrap="square" lIns="0" tIns="0" rIns="0" bIns="0" rtlCol="0" anchor="t"/>
          <a:lstStyle/>
          <a:p>
            <a:pPr marL="0" indent="0">
              <a:buNone/>
            </a:pPr>
            <a:endParaRPr lang="en-US" sz="1400" b="1" dirty="0">
              <a:solidFill>
                <a:schemeClr val="accent6"/>
              </a:solidFill>
            </a:endParaRPr>
          </a:p>
          <a:p>
            <a:pPr marL="0" indent="0">
              <a:buNone/>
            </a:pPr>
            <a:r>
              <a:rPr lang="en-US" sz="1400" b="1" dirty="0" err="1">
                <a:solidFill>
                  <a:schemeClr val="accent6"/>
                </a:solidFill>
              </a:rPr>
              <a:t>Kelompok</a:t>
            </a:r>
            <a:r>
              <a:rPr lang="en-US" sz="1400" b="1" dirty="0">
                <a:solidFill>
                  <a:schemeClr val="accent6"/>
                </a:solidFill>
              </a:rPr>
              <a:t> Jakarta</a:t>
            </a:r>
            <a:endParaRPr lang="en-US" sz="1400" dirty="0"/>
          </a:p>
          <a:p>
            <a:pPr marL="0" indent="0">
              <a:buNone/>
            </a:pPr>
            <a:r>
              <a:rPr lang="en-US" sz="1400" dirty="0">
                <a:solidFill>
                  <a:schemeClr val="accent6"/>
                </a:solidFill>
              </a:rPr>
              <a:t>Teknik Informatika, Perbanas Institute</a:t>
            </a:r>
            <a:endParaRPr lang="en-US" sz="1400" dirty="0"/>
          </a:p>
        </p:txBody>
      </p:sp>
      <p:sp>
        <p:nvSpPr>
          <p:cNvPr id="5" name="Kotak client"/>
          <p:cNvSpPr txBox="1"/>
          <p:nvPr/>
        </p:nvSpPr>
        <p:spPr>
          <a:xfrm>
            <a:off x="6035040" y="1508760"/>
            <a:ext cx="2468880" cy="868680"/>
          </a:xfrm>
          <a:prstGeom prst="roundRect">
            <a:avLst>
              <a:gd name="adj" fmla="val 10526"/>
            </a:avLst>
          </a:prstGeom>
          <a:solidFill>
            <a:schemeClr val="accent1"/>
          </a:solidFill>
          <a:ln/>
        </p:spPr>
        <p:txBody>
          <a:bodyPr wrap="square" rtlCol="0" anchor="ctr"/>
          <a:lstStyle/>
          <a:p>
            <a:pPr marL="0" indent="0" algn="ctr">
              <a:buNone/>
            </a:pPr>
            <a:r>
              <a:rPr lang="en-US" sz="1800" b="1" dirty="0">
                <a:solidFill>
                  <a:schemeClr val="tx2"/>
                </a:solidFill>
                <a:latin typeface="Courier New" pitchFamily="34" charset="0"/>
                <a:ea typeface="Courier New" pitchFamily="34" charset="-122"/>
                <a:cs typeface="Courier New" pitchFamily="34" charset="-120"/>
              </a:rPr>
              <a:t>client.py</a:t>
            </a:r>
            <a:endParaRPr lang="en-US" sz="1800" dirty="0"/>
          </a:p>
        </p:txBody>
      </p:sp>
      <p:sp>
        <p:nvSpPr>
          <p:cNvPr id="6" name="Panah dua arah"/>
          <p:cNvSpPr/>
          <p:nvPr/>
        </p:nvSpPr>
        <p:spPr>
          <a:xfrm>
            <a:off x="7269480" y="2514600"/>
            <a:ext cx="0" cy="731520"/>
          </a:xfrm>
          <a:prstGeom prst="line">
            <a:avLst/>
          </a:prstGeom>
          <a:noFill/>
          <a:ln w="31750">
            <a:solidFill>
              <a:schemeClr val="accent6"/>
            </a:solidFill>
            <a:prstDash val="solid"/>
            <a:headEnd type="triangle"/>
            <a:tailEnd type="triangle"/>
          </a:ln>
        </p:spPr>
        <p:txBody>
          <a:bodyPr/>
          <a:lstStyle/>
          <a:p>
            <a:endParaRPr lang="en-US"/>
          </a:p>
        </p:txBody>
      </p:sp>
      <p:sp>
        <p:nvSpPr>
          <p:cNvPr id="7" name="Kotak server"/>
          <p:cNvSpPr txBox="1"/>
          <p:nvPr/>
        </p:nvSpPr>
        <p:spPr>
          <a:xfrm>
            <a:off x="6035040" y="3383280"/>
            <a:ext cx="2468880" cy="868680"/>
          </a:xfrm>
          <a:prstGeom prst="roundRect">
            <a:avLst>
              <a:gd name="adj" fmla="val 10526"/>
            </a:avLst>
          </a:prstGeom>
          <a:solidFill>
            <a:schemeClr val="bg2"/>
          </a:solidFill>
          <a:ln/>
        </p:spPr>
        <p:txBody>
          <a:bodyPr wrap="square" rtlCol="0" anchor="ctr"/>
          <a:lstStyle/>
          <a:p>
            <a:pPr marL="0" indent="0" algn="ctr">
              <a:buNone/>
            </a:pPr>
            <a:r>
              <a:rPr lang="en-US" sz="1800" b="1" dirty="0">
                <a:solidFill>
                  <a:schemeClr val="tx2"/>
                </a:solidFill>
                <a:latin typeface="Courier New" pitchFamily="34" charset="0"/>
                <a:ea typeface="Courier New" pitchFamily="34" charset="-122"/>
                <a:cs typeface="Courier New" pitchFamily="34" charset="-120"/>
              </a:rPr>
              <a:t>server.py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Apa yang dikerjakan</a:t>
            </a:r>
            <a:endParaRPr lang="en-US" sz="3000" dirty="0"/>
          </a:p>
        </p:txBody>
      </p:sp>
      <p:sp>
        <p:nvSpPr>
          <p:cNvPr id="3" name="Pengantar"/>
          <p:cNvSpPr txBox="1"/>
          <p:nvPr/>
        </p:nvSpPr>
        <p:spPr>
          <a:xfrm>
            <a:off x="457200" y="1097280"/>
            <a:ext cx="8229600" cy="457200"/>
          </a:xfrm>
          <a:prstGeom prst="rect">
            <a:avLst/>
          </a:prstGeom>
          <a:noFill/>
          <a:ln/>
        </p:spPr>
        <p:txBody>
          <a:bodyPr wrap="square" lIns="0" tIns="0" rIns="0" bIns="0" rtlCol="0" anchor="t"/>
          <a:lstStyle/>
          <a:p>
            <a:pPr marL="0" indent="0">
              <a:buNone/>
            </a:pPr>
            <a:r>
              <a:rPr lang="en-US" sz="1600" dirty="0">
                <a:solidFill>
                  <a:schemeClr val="tx1"/>
                </a:solidFill>
              </a:rPr>
              <a:t>Dua program Python yang berkomunikasi lewat TCP: client mengirim pesan, server membalas.</a:t>
            </a:r>
            <a:endParaRPr lang="en-US" sz="1600" dirty="0"/>
          </a:p>
        </p:txBody>
      </p:sp>
      <p:sp>
        <p:nvSpPr>
          <p:cNvPr id="4" name="Kartu server.py"/>
          <p:cNvSpPr/>
          <p:nvPr/>
        </p:nvSpPr>
        <p:spPr>
          <a:xfrm>
            <a:off x="457200" y="1691640"/>
            <a:ext cx="3977640" cy="1828800"/>
          </a:xfrm>
          <a:prstGeom prst="roundRect">
            <a:avLst>
              <a:gd name="adj" fmla="val 4000"/>
            </a:avLst>
          </a:prstGeom>
          <a:solidFill>
            <a:schemeClr val="bg2"/>
          </a:solidFill>
          <a:ln w="12700">
            <a:solidFill>
              <a:schemeClr val="bg2"/>
            </a:solidFill>
            <a:prstDash val="solid"/>
          </a:ln>
        </p:spPr>
        <p:txBody>
          <a:bodyPr/>
          <a:lstStyle/>
          <a:p>
            <a:endParaRPr lang="en-US"/>
          </a:p>
        </p:txBody>
      </p:sp>
      <p:sp>
        <p:nvSpPr>
          <p:cNvPr id="5" name="Nama server.py"/>
          <p:cNvSpPr txBox="1"/>
          <p:nvPr/>
        </p:nvSpPr>
        <p:spPr>
          <a:xfrm>
            <a:off x="685800" y="1810512"/>
            <a:ext cx="3520440" cy="365760"/>
          </a:xfrm>
          <a:prstGeom prst="rect">
            <a:avLst/>
          </a:prstGeom>
          <a:noFill/>
          <a:ln/>
        </p:spPr>
        <p:txBody>
          <a:bodyPr wrap="square" lIns="0" tIns="0" rIns="0" bIns="0" rtlCol="0" anchor="ctr"/>
          <a:lstStyle/>
          <a:p>
            <a:pPr marL="0" indent="0">
              <a:buNone/>
            </a:pPr>
            <a:r>
              <a:rPr lang="en-US" sz="1800" b="1" dirty="0">
                <a:solidFill>
                  <a:schemeClr val="tx2"/>
                </a:solidFill>
                <a:latin typeface="Courier New" pitchFamily="34" charset="0"/>
                <a:ea typeface="Courier New" pitchFamily="34" charset="-122"/>
                <a:cs typeface="Courier New" pitchFamily="34" charset="-120"/>
              </a:rPr>
              <a:t>server.py</a:t>
            </a:r>
            <a:endParaRPr lang="en-US" sz="1800" dirty="0"/>
          </a:p>
        </p:txBody>
      </p:sp>
      <p:sp>
        <p:nvSpPr>
          <p:cNvPr id="6" name="Fungsi server.py"/>
          <p:cNvSpPr txBox="1"/>
          <p:nvPr/>
        </p:nvSpPr>
        <p:spPr>
          <a:xfrm>
            <a:off x="685800" y="2240280"/>
            <a:ext cx="3520440" cy="1143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Mendengarkan koneksi di port 5000</a:t>
            </a:r>
            <a:endParaRPr lang="en-US" sz="1400" dirty="0"/>
          </a:p>
          <a:p>
            <a:pPr marL="342900" indent="-342900">
              <a:spcAft>
                <a:spcPts val="600"/>
              </a:spcAft>
              <a:buSzPct val="100000"/>
              <a:buChar char="•"/>
            </a:pPr>
            <a:r>
              <a:rPr lang="en-US" sz="1400" dirty="0">
                <a:solidFill>
                  <a:schemeClr val="tx1"/>
                </a:solidFill>
              </a:rPr>
              <a:t>Menerima pesan dari client</a:t>
            </a:r>
            <a:endParaRPr lang="en-US" sz="1400" dirty="0"/>
          </a:p>
          <a:p>
            <a:pPr marL="342900" indent="-342900">
              <a:spcAft>
                <a:spcPts val="600"/>
              </a:spcAft>
              <a:buSzPct val="100000"/>
              <a:buChar char="•"/>
            </a:pPr>
            <a:r>
              <a:rPr lang="en-US" sz="1400" dirty="0">
                <a:solidFill>
                  <a:schemeClr val="tx1"/>
                </a:solidFill>
              </a:rPr>
              <a:t>Membalas, lalu menunggu client berikutnya</a:t>
            </a:r>
            <a:endParaRPr lang="en-US" sz="1400" dirty="0"/>
          </a:p>
        </p:txBody>
      </p:sp>
      <p:sp>
        <p:nvSpPr>
          <p:cNvPr id="7" name="Kartu client.py"/>
          <p:cNvSpPr/>
          <p:nvPr/>
        </p:nvSpPr>
        <p:spPr>
          <a:xfrm>
            <a:off x="4709160" y="1691640"/>
            <a:ext cx="3977640" cy="1828800"/>
          </a:xfrm>
          <a:prstGeom prst="roundRect">
            <a:avLst>
              <a:gd name="adj" fmla="val 4000"/>
            </a:avLst>
          </a:prstGeom>
          <a:solidFill>
            <a:schemeClr val="bg2"/>
          </a:solidFill>
          <a:ln w="12700">
            <a:solidFill>
              <a:schemeClr val="bg2"/>
            </a:solidFill>
            <a:prstDash val="solid"/>
          </a:ln>
        </p:spPr>
        <p:txBody>
          <a:bodyPr/>
          <a:lstStyle/>
          <a:p>
            <a:endParaRPr lang="en-US"/>
          </a:p>
        </p:txBody>
      </p:sp>
      <p:sp>
        <p:nvSpPr>
          <p:cNvPr id="8" name="Nama client.py"/>
          <p:cNvSpPr txBox="1"/>
          <p:nvPr/>
        </p:nvSpPr>
        <p:spPr>
          <a:xfrm>
            <a:off x="4937760" y="1810512"/>
            <a:ext cx="3520440" cy="365760"/>
          </a:xfrm>
          <a:prstGeom prst="rect">
            <a:avLst/>
          </a:prstGeom>
          <a:noFill/>
          <a:ln/>
        </p:spPr>
        <p:txBody>
          <a:bodyPr wrap="square" lIns="0" tIns="0" rIns="0" bIns="0" rtlCol="0" anchor="ctr"/>
          <a:lstStyle/>
          <a:p>
            <a:pPr marL="0" indent="0">
              <a:buNone/>
            </a:pPr>
            <a:r>
              <a:rPr lang="en-US" sz="1800" b="1" dirty="0">
                <a:solidFill>
                  <a:schemeClr val="tx2"/>
                </a:solidFill>
                <a:latin typeface="Courier New" pitchFamily="34" charset="0"/>
                <a:ea typeface="Courier New" pitchFamily="34" charset="-122"/>
                <a:cs typeface="Courier New" pitchFamily="34" charset="-120"/>
              </a:rPr>
              <a:t>client.py</a:t>
            </a:r>
            <a:endParaRPr lang="en-US" sz="1800" dirty="0"/>
          </a:p>
        </p:txBody>
      </p:sp>
      <p:sp>
        <p:nvSpPr>
          <p:cNvPr id="9" name="Fungsi client.py"/>
          <p:cNvSpPr txBox="1"/>
          <p:nvPr/>
        </p:nvSpPr>
        <p:spPr>
          <a:xfrm>
            <a:off x="4937760" y="2240280"/>
            <a:ext cx="3520440" cy="1143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Terhubung ke server</a:t>
            </a:r>
            <a:endParaRPr lang="en-US" sz="1400" dirty="0"/>
          </a:p>
          <a:p>
            <a:pPr marL="342900" indent="-342900">
              <a:spcAft>
                <a:spcPts val="600"/>
              </a:spcAft>
              <a:buSzPct val="100000"/>
              <a:buChar char="•"/>
            </a:pPr>
            <a:r>
              <a:rPr lang="en-US" sz="1400" dirty="0">
                <a:solidFill>
                  <a:schemeClr val="tx1"/>
                </a:solidFill>
              </a:rPr>
              <a:t>Mengirim pesan dari keyboard</a:t>
            </a:r>
            <a:endParaRPr lang="en-US" sz="1400" dirty="0"/>
          </a:p>
          <a:p>
            <a:pPr marL="342900" indent="-342900">
              <a:spcAft>
                <a:spcPts val="600"/>
              </a:spcAft>
              <a:buSzPct val="100000"/>
              <a:buChar char="•"/>
            </a:pPr>
            <a:r>
              <a:rPr lang="en-US" sz="1400" dirty="0">
                <a:solidFill>
                  <a:schemeClr val="tx1"/>
                </a:solidFill>
              </a:rPr>
              <a:t>Menampilkan balasan, 'exit' untuk keluar</a:t>
            </a:r>
            <a:endParaRPr lang="en-US" sz="1400" dirty="0"/>
          </a:p>
        </p:txBody>
      </p:sp>
      <p:sp>
        <p:nvSpPr>
          <p:cNvPr id="10" name="Label konsep"/>
          <p:cNvSpPr txBox="1"/>
          <p:nvPr/>
        </p:nvSpPr>
        <p:spPr>
          <a:xfrm>
            <a:off x="457200" y="3749040"/>
            <a:ext cx="3657600" cy="274320"/>
          </a:xfrm>
          <a:prstGeom prst="rect">
            <a:avLst/>
          </a:prstGeom>
          <a:noFill/>
          <a:ln/>
        </p:spPr>
        <p:txBody>
          <a:bodyPr wrap="square" lIns="0" tIns="0" rIns="0" bIns="0" rtlCol="0" anchor="ctr"/>
          <a:lstStyle/>
          <a:p>
            <a:pPr marL="0" indent="0">
              <a:buNone/>
            </a:pPr>
            <a:r>
              <a:rPr lang="en-US" sz="1400" b="1" dirty="0">
                <a:solidFill>
                  <a:schemeClr val="tx2"/>
                </a:solidFill>
              </a:rPr>
              <a:t>Konsep yang diuji</a:t>
            </a:r>
            <a:endParaRPr lang="en-US" sz="1400" dirty="0"/>
          </a:p>
        </p:txBody>
      </p:sp>
      <p:sp>
        <p:nvSpPr>
          <p:cNvPr id="11" name="Chip Socket TCP"/>
          <p:cNvSpPr txBox="1"/>
          <p:nvPr/>
        </p:nvSpPr>
        <p:spPr>
          <a:xfrm>
            <a:off x="457200" y="4114800"/>
            <a:ext cx="1463040" cy="365760"/>
          </a:xfrm>
          <a:prstGeom prst="roundRect">
            <a:avLst>
              <a:gd name="adj" fmla="val 45000"/>
            </a:avLst>
          </a:prstGeom>
          <a:solidFill>
            <a:schemeClr val="bg1"/>
          </a:solidFill>
          <a:ln w="15875">
            <a:solidFill>
              <a:schemeClr val="accent1"/>
            </a:solidFill>
          </a:ln>
        </p:spPr>
        <p:txBody>
          <a:bodyPr wrap="square" lIns="0" tIns="0" rIns="0" bIns="0" rtlCol="0" anchor="ctr"/>
          <a:lstStyle/>
          <a:p>
            <a:pPr marL="0" indent="0" algn="ctr">
              <a:buNone/>
            </a:pPr>
            <a:r>
              <a:rPr lang="en-US" sz="1400" dirty="0">
                <a:solidFill>
                  <a:schemeClr val="tx2"/>
                </a:solidFill>
              </a:rPr>
              <a:t>Socket TCP</a:t>
            </a:r>
            <a:endParaRPr lang="en-US" sz="1400" dirty="0"/>
          </a:p>
        </p:txBody>
      </p:sp>
      <p:sp>
        <p:nvSpPr>
          <p:cNvPr id="12" name="Chip bind, listen, accept"/>
          <p:cNvSpPr txBox="1"/>
          <p:nvPr/>
        </p:nvSpPr>
        <p:spPr>
          <a:xfrm>
            <a:off x="2103120" y="4114800"/>
            <a:ext cx="2194560" cy="365760"/>
          </a:xfrm>
          <a:prstGeom prst="roundRect">
            <a:avLst>
              <a:gd name="adj" fmla="val 45000"/>
            </a:avLst>
          </a:prstGeom>
          <a:solidFill>
            <a:schemeClr val="bg1"/>
          </a:solidFill>
          <a:ln w="15875">
            <a:solidFill>
              <a:schemeClr val="accent1"/>
            </a:solidFill>
          </a:ln>
        </p:spPr>
        <p:txBody>
          <a:bodyPr wrap="square" lIns="0" tIns="0" rIns="0" bIns="0" rtlCol="0" anchor="ctr"/>
          <a:lstStyle/>
          <a:p>
            <a:pPr marL="0" indent="0" algn="ctr">
              <a:buNone/>
            </a:pPr>
            <a:r>
              <a:rPr lang="en-US" sz="1400" dirty="0">
                <a:solidFill>
                  <a:schemeClr val="tx2"/>
                </a:solidFill>
              </a:rPr>
              <a:t>bind, listen, accept</a:t>
            </a:r>
            <a:endParaRPr lang="en-US" sz="1400" dirty="0"/>
          </a:p>
        </p:txBody>
      </p:sp>
      <p:sp>
        <p:nvSpPr>
          <p:cNvPr id="13" name="Chip send dan recv"/>
          <p:cNvSpPr txBox="1"/>
          <p:nvPr/>
        </p:nvSpPr>
        <p:spPr>
          <a:xfrm>
            <a:off x="4480560" y="4114800"/>
            <a:ext cx="1554480" cy="365760"/>
          </a:xfrm>
          <a:prstGeom prst="roundRect">
            <a:avLst>
              <a:gd name="adj" fmla="val 45000"/>
            </a:avLst>
          </a:prstGeom>
          <a:solidFill>
            <a:schemeClr val="bg1"/>
          </a:solidFill>
          <a:ln w="15875">
            <a:solidFill>
              <a:schemeClr val="accent1"/>
            </a:solidFill>
          </a:ln>
        </p:spPr>
        <p:txBody>
          <a:bodyPr wrap="square" lIns="0" tIns="0" rIns="0" bIns="0" rtlCol="0" anchor="ctr"/>
          <a:lstStyle/>
          <a:p>
            <a:pPr marL="0" indent="0" algn="ctr">
              <a:buNone/>
            </a:pPr>
            <a:r>
              <a:rPr lang="en-US" sz="1400" dirty="0">
                <a:solidFill>
                  <a:schemeClr val="tx2"/>
                </a:solidFill>
              </a:rPr>
              <a:t>send dan recv</a:t>
            </a:r>
            <a:endParaRPr lang="en-US" sz="1400" dirty="0"/>
          </a:p>
        </p:txBody>
      </p:sp>
      <p:sp>
        <p:nvSpPr>
          <p:cNvPr id="14" name="Chip Penanganan error"/>
          <p:cNvSpPr txBox="1"/>
          <p:nvPr/>
        </p:nvSpPr>
        <p:spPr>
          <a:xfrm>
            <a:off x="6217920" y="4114800"/>
            <a:ext cx="1828800" cy="365760"/>
          </a:xfrm>
          <a:prstGeom prst="roundRect">
            <a:avLst>
              <a:gd name="adj" fmla="val 45000"/>
            </a:avLst>
          </a:prstGeom>
          <a:solidFill>
            <a:schemeClr val="bg1"/>
          </a:solidFill>
          <a:ln w="15875">
            <a:solidFill>
              <a:schemeClr val="accent1"/>
            </a:solidFill>
          </a:ln>
        </p:spPr>
        <p:txBody>
          <a:bodyPr wrap="square" lIns="0" tIns="0" rIns="0" bIns="0" rtlCol="0" anchor="ctr"/>
          <a:lstStyle/>
          <a:p>
            <a:pPr marL="0" indent="0" algn="ctr">
              <a:buNone/>
            </a:pPr>
            <a:r>
              <a:rPr lang="en-US" sz="1400" dirty="0">
                <a:solidFill>
                  <a:schemeClr val="tx2"/>
                </a:solidFill>
              </a:rPr>
              <a:t>Penanganan error</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Konsep dasar yang dipakai</a:t>
            </a:r>
            <a:endParaRPr lang="en-US" sz="3000" dirty="0"/>
          </a:p>
        </p:txBody>
      </p:sp>
      <p:sp>
        <p:nvSpPr>
          <p:cNvPr id="3" name="Kartu IP address"/>
          <p:cNvSpPr/>
          <p:nvPr/>
        </p:nvSpPr>
        <p:spPr>
          <a:xfrm>
            <a:off x="457200" y="1234440"/>
            <a:ext cx="1874520" cy="2697480"/>
          </a:xfrm>
          <a:prstGeom prst="roundRect">
            <a:avLst>
              <a:gd name="adj" fmla="val 3902"/>
            </a:avLst>
          </a:prstGeom>
          <a:solidFill>
            <a:schemeClr val="bg2"/>
          </a:solidFill>
          <a:ln w="12700">
            <a:solidFill>
              <a:schemeClr val="bg2"/>
            </a:solidFill>
            <a:prstDash val="solid"/>
          </a:ln>
        </p:spPr>
        <p:txBody>
          <a:bodyPr/>
          <a:lstStyle/>
          <a:p>
            <a:endParaRPr lang="en-US"/>
          </a:p>
        </p:txBody>
      </p:sp>
      <p:sp>
        <p:nvSpPr>
          <p:cNvPr id="4" name="Lingkaran ikon IP address"/>
          <p:cNvSpPr/>
          <p:nvPr/>
        </p:nvSpPr>
        <p:spPr>
          <a:xfrm>
            <a:off x="640080" y="1417320"/>
            <a:ext cx="640080" cy="640080"/>
          </a:xfrm>
          <a:prstGeom prst="ellipse">
            <a:avLst/>
          </a:prstGeom>
          <a:solidFill>
            <a:schemeClr val="accent1"/>
          </a:solidFill>
          <a:ln w="12700">
            <a:solidFill>
              <a:schemeClr val="accent1"/>
            </a:solidFill>
            <a:prstDash val="solid"/>
          </a:ln>
        </p:spPr>
        <p:txBody>
          <a:bodyPr/>
          <a:lstStyle/>
          <a:p>
            <a:endParaRPr lang="en-US"/>
          </a:p>
        </p:txBody>
      </p:sp>
      <p:pic>
        <p:nvPicPr>
          <p:cNvPr id="5" name="Ikon IP address" descr="Ikon IP address"/>
          <p:cNvPicPr>
            <a:picLocks noChangeAspect="1"/>
          </p:cNvPicPr>
          <p:nvPr/>
        </p:nvPicPr>
        <p:blipFill>
          <a:blip r:embed="rId3"/>
          <a:stretch>
            <a:fillRect/>
          </a:stretch>
        </p:blipFill>
        <p:spPr>
          <a:xfrm>
            <a:off x="795528" y="1572768"/>
            <a:ext cx="329184" cy="329184"/>
          </a:xfrm>
          <a:prstGeom prst="rect">
            <a:avLst/>
          </a:prstGeom>
        </p:spPr>
      </p:pic>
      <p:sp>
        <p:nvSpPr>
          <p:cNvPr id="6" name="Judul IP address"/>
          <p:cNvSpPr txBox="1"/>
          <p:nvPr/>
        </p:nvSpPr>
        <p:spPr>
          <a:xfrm>
            <a:off x="640080" y="2194560"/>
            <a:ext cx="1508760" cy="320040"/>
          </a:xfrm>
          <a:prstGeom prst="rect">
            <a:avLst/>
          </a:prstGeom>
          <a:noFill/>
          <a:ln/>
        </p:spPr>
        <p:txBody>
          <a:bodyPr wrap="square" lIns="0" tIns="0" rIns="0" bIns="0" rtlCol="0" anchor="ctr"/>
          <a:lstStyle/>
          <a:p>
            <a:pPr marL="0" indent="0">
              <a:buNone/>
            </a:pPr>
            <a:r>
              <a:rPr lang="en-US" sz="1600" b="1" dirty="0">
                <a:solidFill>
                  <a:schemeClr val="tx2"/>
                </a:solidFill>
              </a:rPr>
              <a:t>IP address</a:t>
            </a:r>
            <a:endParaRPr lang="en-US" sz="1600" dirty="0"/>
          </a:p>
        </p:txBody>
      </p:sp>
      <p:sp>
        <p:nvSpPr>
          <p:cNvPr id="7" name="Deskripsi IP address"/>
          <p:cNvSpPr txBox="1"/>
          <p:nvPr/>
        </p:nvSpPr>
        <p:spPr>
          <a:xfrm>
            <a:off x="640080" y="2560320"/>
            <a:ext cx="1508760" cy="1234440"/>
          </a:xfrm>
          <a:prstGeom prst="rect">
            <a:avLst/>
          </a:prstGeom>
          <a:noFill/>
          <a:ln/>
        </p:spPr>
        <p:txBody>
          <a:bodyPr wrap="square" lIns="0" tIns="0" rIns="0" bIns="0" rtlCol="0" anchor="t"/>
          <a:lstStyle/>
          <a:p>
            <a:pPr marL="0" indent="0">
              <a:buNone/>
            </a:pPr>
            <a:r>
              <a:rPr lang="en-US" sz="1400" dirty="0">
                <a:solidFill>
                  <a:schemeClr val="tx1"/>
                </a:solidFill>
              </a:rPr>
              <a:t>Alamat komputer di jaringan. 127.0.0.1 berarti komputer sendiri.</a:t>
            </a:r>
            <a:endParaRPr lang="en-US" sz="1400" dirty="0"/>
          </a:p>
        </p:txBody>
      </p:sp>
      <p:sp>
        <p:nvSpPr>
          <p:cNvPr id="8" name="Kartu Port"/>
          <p:cNvSpPr/>
          <p:nvPr/>
        </p:nvSpPr>
        <p:spPr>
          <a:xfrm>
            <a:off x="2575865" y="1234440"/>
            <a:ext cx="1874520" cy="2697480"/>
          </a:xfrm>
          <a:prstGeom prst="roundRect">
            <a:avLst>
              <a:gd name="adj" fmla="val 3902"/>
            </a:avLst>
          </a:prstGeom>
          <a:solidFill>
            <a:schemeClr val="bg2"/>
          </a:solidFill>
          <a:ln w="12700">
            <a:solidFill>
              <a:schemeClr val="bg2"/>
            </a:solidFill>
            <a:prstDash val="solid"/>
          </a:ln>
        </p:spPr>
        <p:txBody>
          <a:bodyPr/>
          <a:lstStyle/>
          <a:p>
            <a:endParaRPr lang="en-US"/>
          </a:p>
        </p:txBody>
      </p:sp>
      <p:sp>
        <p:nvSpPr>
          <p:cNvPr id="9" name="Lingkaran ikon Port"/>
          <p:cNvSpPr/>
          <p:nvPr/>
        </p:nvSpPr>
        <p:spPr>
          <a:xfrm>
            <a:off x="2758745" y="1417320"/>
            <a:ext cx="640080" cy="640080"/>
          </a:xfrm>
          <a:prstGeom prst="ellipse">
            <a:avLst/>
          </a:prstGeom>
          <a:solidFill>
            <a:schemeClr val="accent1"/>
          </a:solidFill>
          <a:ln w="12700">
            <a:solidFill>
              <a:schemeClr val="accent1"/>
            </a:solidFill>
            <a:prstDash val="solid"/>
          </a:ln>
        </p:spPr>
        <p:txBody>
          <a:bodyPr/>
          <a:lstStyle/>
          <a:p>
            <a:endParaRPr lang="en-US"/>
          </a:p>
        </p:txBody>
      </p:sp>
      <p:pic>
        <p:nvPicPr>
          <p:cNvPr id="10" name="Ikon Port" descr="Ikon Port"/>
          <p:cNvPicPr>
            <a:picLocks noChangeAspect="1"/>
          </p:cNvPicPr>
          <p:nvPr/>
        </p:nvPicPr>
        <p:blipFill>
          <a:blip r:embed="rId4"/>
          <a:stretch>
            <a:fillRect/>
          </a:stretch>
        </p:blipFill>
        <p:spPr>
          <a:xfrm>
            <a:off x="2914193" y="1572768"/>
            <a:ext cx="329184" cy="329184"/>
          </a:xfrm>
          <a:prstGeom prst="rect">
            <a:avLst/>
          </a:prstGeom>
        </p:spPr>
      </p:pic>
      <p:sp>
        <p:nvSpPr>
          <p:cNvPr id="11" name="Judul Port"/>
          <p:cNvSpPr txBox="1"/>
          <p:nvPr/>
        </p:nvSpPr>
        <p:spPr>
          <a:xfrm>
            <a:off x="2758745" y="2194560"/>
            <a:ext cx="1508760" cy="320040"/>
          </a:xfrm>
          <a:prstGeom prst="rect">
            <a:avLst/>
          </a:prstGeom>
          <a:noFill/>
          <a:ln/>
        </p:spPr>
        <p:txBody>
          <a:bodyPr wrap="square" lIns="0" tIns="0" rIns="0" bIns="0" rtlCol="0" anchor="ctr"/>
          <a:lstStyle/>
          <a:p>
            <a:pPr marL="0" indent="0">
              <a:buNone/>
            </a:pPr>
            <a:r>
              <a:rPr lang="en-US" sz="1600" b="1" dirty="0">
                <a:solidFill>
                  <a:schemeClr val="tx2"/>
                </a:solidFill>
              </a:rPr>
              <a:t>Port</a:t>
            </a:r>
            <a:endParaRPr lang="en-US" sz="1600" dirty="0"/>
          </a:p>
        </p:txBody>
      </p:sp>
      <p:sp>
        <p:nvSpPr>
          <p:cNvPr id="12" name="Deskripsi Port"/>
          <p:cNvSpPr txBox="1"/>
          <p:nvPr/>
        </p:nvSpPr>
        <p:spPr>
          <a:xfrm>
            <a:off x="2758745" y="2560320"/>
            <a:ext cx="1508760" cy="1234440"/>
          </a:xfrm>
          <a:prstGeom prst="rect">
            <a:avLst/>
          </a:prstGeom>
          <a:noFill/>
          <a:ln/>
        </p:spPr>
        <p:txBody>
          <a:bodyPr wrap="square" lIns="0" tIns="0" rIns="0" bIns="0" rtlCol="0" anchor="t"/>
          <a:lstStyle/>
          <a:p>
            <a:pPr marL="0" indent="0">
              <a:buNone/>
            </a:pPr>
            <a:r>
              <a:rPr lang="en-US" sz="1400" dirty="0">
                <a:solidFill>
                  <a:schemeClr val="tx1"/>
                </a:solidFill>
              </a:rPr>
              <a:t>Nomor yang menunjuk program tujuan di komputer itu.</a:t>
            </a:r>
            <a:endParaRPr lang="en-US" sz="1400" dirty="0"/>
          </a:p>
        </p:txBody>
      </p:sp>
      <p:sp>
        <p:nvSpPr>
          <p:cNvPr id="13" name="Kartu Socket"/>
          <p:cNvSpPr/>
          <p:nvPr/>
        </p:nvSpPr>
        <p:spPr>
          <a:xfrm>
            <a:off x="4694530" y="1234440"/>
            <a:ext cx="1874520" cy="2697480"/>
          </a:xfrm>
          <a:prstGeom prst="roundRect">
            <a:avLst>
              <a:gd name="adj" fmla="val 3902"/>
            </a:avLst>
          </a:prstGeom>
          <a:solidFill>
            <a:schemeClr val="bg2"/>
          </a:solidFill>
          <a:ln w="12700">
            <a:solidFill>
              <a:schemeClr val="bg2"/>
            </a:solidFill>
            <a:prstDash val="solid"/>
          </a:ln>
        </p:spPr>
        <p:txBody>
          <a:bodyPr/>
          <a:lstStyle/>
          <a:p>
            <a:endParaRPr lang="en-US"/>
          </a:p>
        </p:txBody>
      </p:sp>
      <p:sp>
        <p:nvSpPr>
          <p:cNvPr id="14" name="Lingkaran ikon Socket"/>
          <p:cNvSpPr/>
          <p:nvPr/>
        </p:nvSpPr>
        <p:spPr>
          <a:xfrm>
            <a:off x="4877410" y="1417320"/>
            <a:ext cx="640080" cy="640080"/>
          </a:xfrm>
          <a:prstGeom prst="ellipse">
            <a:avLst/>
          </a:prstGeom>
          <a:solidFill>
            <a:schemeClr val="accent1"/>
          </a:solidFill>
          <a:ln w="12700">
            <a:solidFill>
              <a:schemeClr val="accent1"/>
            </a:solidFill>
            <a:prstDash val="solid"/>
          </a:ln>
        </p:spPr>
        <p:txBody>
          <a:bodyPr/>
          <a:lstStyle/>
          <a:p>
            <a:endParaRPr lang="en-US"/>
          </a:p>
        </p:txBody>
      </p:sp>
      <p:pic>
        <p:nvPicPr>
          <p:cNvPr id="15" name="Ikon Socket" descr="Ikon Socket"/>
          <p:cNvPicPr>
            <a:picLocks noChangeAspect="1"/>
          </p:cNvPicPr>
          <p:nvPr/>
        </p:nvPicPr>
        <p:blipFill>
          <a:blip r:embed="rId5"/>
          <a:stretch>
            <a:fillRect/>
          </a:stretch>
        </p:blipFill>
        <p:spPr>
          <a:xfrm>
            <a:off x="5032858" y="1572768"/>
            <a:ext cx="329184" cy="329184"/>
          </a:xfrm>
          <a:prstGeom prst="rect">
            <a:avLst/>
          </a:prstGeom>
        </p:spPr>
      </p:pic>
      <p:sp>
        <p:nvSpPr>
          <p:cNvPr id="16" name="Judul Socket"/>
          <p:cNvSpPr txBox="1"/>
          <p:nvPr/>
        </p:nvSpPr>
        <p:spPr>
          <a:xfrm>
            <a:off x="4877410" y="2194560"/>
            <a:ext cx="1508760" cy="320040"/>
          </a:xfrm>
          <a:prstGeom prst="rect">
            <a:avLst/>
          </a:prstGeom>
          <a:noFill/>
          <a:ln/>
        </p:spPr>
        <p:txBody>
          <a:bodyPr wrap="square" lIns="0" tIns="0" rIns="0" bIns="0" rtlCol="0" anchor="ctr"/>
          <a:lstStyle/>
          <a:p>
            <a:pPr marL="0" indent="0">
              <a:buNone/>
            </a:pPr>
            <a:r>
              <a:rPr lang="en-US" sz="1600" b="1" dirty="0">
                <a:solidFill>
                  <a:schemeClr val="tx2"/>
                </a:solidFill>
              </a:rPr>
              <a:t>Socket</a:t>
            </a:r>
            <a:endParaRPr lang="en-US" sz="1600" dirty="0"/>
          </a:p>
        </p:txBody>
      </p:sp>
      <p:sp>
        <p:nvSpPr>
          <p:cNvPr id="17" name="Deskripsi Socket"/>
          <p:cNvSpPr txBox="1"/>
          <p:nvPr/>
        </p:nvSpPr>
        <p:spPr>
          <a:xfrm>
            <a:off x="4877410" y="2560320"/>
            <a:ext cx="1508760" cy="1234440"/>
          </a:xfrm>
          <a:prstGeom prst="rect">
            <a:avLst/>
          </a:prstGeom>
          <a:noFill/>
          <a:ln/>
        </p:spPr>
        <p:txBody>
          <a:bodyPr wrap="square" lIns="0" tIns="0" rIns="0" bIns="0" rtlCol="0" anchor="t"/>
          <a:lstStyle/>
          <a:p>
            <a:pPr marL="0" indent="0">
              <a:buNone/>
            </a:pPr>
            <a:r>
              <a:rPr lang="en-US" sz="1400" dirty="0">
                <a:solidFill>
                  <a:schemeClr val="tx1"/>
                </a:solidFill>
              </a:rPr>
              <a:t>Pintu program ke jaringan, dibuat lewat sistem operasi.</a:t>
            </a:r>
            <a:endParaRPr lang="en-US" sz="1400" dirty="0"/>
          </a:p>
        </p:txBody>
      </p:sp>
      <p:sp>
        <p:nvSpPr>
          <p:cNvPr id="18" name="Kartu Client dan server"/>
          <p:cNvSpPr/>
          <p:nvPr/>
        </p:nvSpPr>
        <p:spPr>
          <a:xfrm>
            <a:off x="6813194" y="1234440"/>
            <a:ext cx="1874520" cy="2697480"/>
          </a:xfrm>
          <a:prstGeom prst="roundRect">
            <a:avLst>
              <a:gd name="adj" fmla="val 3902"/>
            </a:avLst>
          </a:prstGeom>
          <a:solidFill>
            <a:schemeClr val="bg2"/>
          </a:solidFill>
          <a:ln w="12700">
            <a:solidFill>
              <a:schemeClr val="bg2"/>
            </a:solidFill>
            <a:prstDash val="solid"/>
          </a:ln>
        </p:spPr>
        <p:txBody>
          <a:bodyPr/>
          <a:lstStyle/>
          <a:p>
            <a:endParaRPr lang="en-US"/>
          </a:p>
        </p:txBody>
      </p:sp>
      <p:sp>
        <p:nvSpPr>
          <p:cNvPr id="19" name="Lingkaran ikon Client dan server"/>
          <p:cNvSpPr/>
          <p:nvPr/>
        </p:nvSpPr>
        <p:spPr>
          <a:xfrm>
            <a:off x="6996074" y="1417320"/>
            <a:ext cx="640080" cy="640080"/>
          </a:xfrm>
          <a:prstGeom prst="ellipse">
            <a:avLst/>
          </a:prstGeom>
          <a:solidFill>
            <a:schemeClr val="accent1"/>
          </a:solidFill>
          <a:ln w="12700">
            <a:solidFill>
              <a:schemeClr val="accent1"/>
            </a:solidFill>
            <a:prstDash val="solid"/>
          </a:ln>
        </p:spPr>
        <p:txBody>
          <a:bodyPr/>
          <a:lstStyle/>
          <a:p>
            <a:endParaRPr lang="en-US"/>
          </a:p>
        </p:txBody>
      </p:sp>
      <p:pic>
        <p:nvPicPr>
          <p:cNvPr id="20" name="Ikon Client dan server" descr="Ikon Client dan server"/>
          <p:cNvPicPr>
            <a:picLocks noChangeAspect="1"/>
          </p:cNvPicPr>
          <p:nvPr/>
        </p:nvPicPr>
        <p:blipFill>
          <a:blip r:embed="rId6"/>
          <a:stretch>
            <a:fillRect/>
          </a:stretch>
        </p:blipFill>
        <p:spPr>
          <a:xfrm>
            <a:off x="7151522" y="1572768"/>
            <a:ext cx="329184" cy="329184"/>
          </a:xfrm>
          <a:prstGeom prst="rect">
            <a:avLst/>
          </a:prstGeom>
        </p:spPr>
      </p:pic>
      <p:sp>
        <p:nvSpPr>
          <p:cNvPr id="21" name="Judul Client dan server"/>
          <p:cNvSpPr txBox="1"/>
          <p:nvPr/>
        </p:nvSpPr>
        <p:spPr>
          <a:xfrm>
            <a:off x="6996074" y="2194560"/>
            <a:ext cx="1508760" cy="320040"/>
          </a:xfrm>
          <a:prstGeom prst="rect">
            <a:avLst/>
          </a:prstGeom>
          <a:noFill/>
          <a:ln/>
        </p:spPr>
        <p:txBody>
          <a:bodyPr wrap="square" lIns="0" tIns="0" rIns="0" bIns="0" rtlCol="0" anchor="ctr"/>
          <a:lstStyle/>
          <a:p>
            <a:pPr marL="0" indent="0">
              <a:buNone/>
            </a:pPr>
            <a:r>
              <a:rPr lang="en-US" sz="1600" b="1" dirty="0">
                <a:solidFill>
                  <a:schemeClr val="tx2"/>
                </a:solidFill>
              </a:rPr>
              <a:t>Client dan server</a:t>
            </a:r>
            <a:endParaRPr lang="en-US" sz="1600" dirty="0"/>
          </a:p>
        </p:txBody>
      </p:sp>
      <p:sp>
        <p:nvSpPr>
          <p:cNvPr id="22" name="Deskripsi Client dan server"/>
          <p:cNvSpPr txBox="1"/>
          <p:nvPr/>
        </p:nvSpPr>
        <p:spPr>
          <a:xfrm>
            <a:off x="6996074" y="2560320"/>
            <a:ext cx="1508760" cy="1234440"/>
          </a:xfrm>
          <a:prstGeom prst="rect">
            <a:avLst/>
          </a:prstGeom>
          <a:noFill/>
          <a:ln/>
        </p:spPr>
        <p:txBody>
          <a:bodyPr wrap="square" lIns="0" tIns="0" rIns="0" bIns="0" rtlCol="0" anchor="t"/>
          <a:lstStyle/>
          <a:p>
            <a:pPr marL="0" indent="0">
              <a:buNone/>
            </a:pPr>
            <a:r>
              <a:rPr lang="en-US" sz="1400" dirty="0">
                <a:solidFill>
                  <a:schemeClr val="tx1"/>
                </a:solidFill>
              </a:rPr>
              <a:t>Client memulai komunikasi. Server menunggu dan melayani.</a:t>
            </a:r>
            <a:endParaRPr lang="en-US" sz="1400" dirty="0"/>
          </a:p>
        </p:txBody>
      </p:sp>
      <p:sp>
        <p:nvSpPr>
          <p:cNvPr id="23" name="Analogi"/>
          <p:cNvSpPr txBox="1"/>
          <p:nvPr/>
        </p:nvSpPr>
        <p:spPr>
          <a:xfrm>
            <a:off x="457200" y="4160520"/>
            <a:ext cx="8229600" cy="365760"/>
          </a:xfrm>
          <a:prstGeom prst="rect">
            <a:avLst/>
          </a:prstGeom>
          <a:noFill/>
          <a:ln/>
        </p:spPr>
        <p:txBody>
          <a:bodyPr wrap="square" lIns="0" tIns="0" rIns="0" bIns="0" rtlCol="0" anchor="ctr"/>
          <a:lstStyle/>
          <a:p>
            <a:pPr marL="0" indent="0">
              <a:buNone/>
            </a:pPr>
            <a:r>
              <a:rPr lang="en-US" sz="1400" i="1" dirty="0">
                <a:solidFill>
                  <a:schemeClr val="accent5"/>
                </a:solidFill>
              </a:rPr>
              <a:t>Analogi: IP = alamat gedung, port = nomor ekstensi, socket = pesawat telepon.</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Alur komunikasi client dan server</a:t>
            </a:r>
            <a:endParaRPr lang="en-US" sz="3000" dirty="0"/>
          </a:p>
        </p:txBody>
      </p:sp>
      <p:sp>
        <p:nvSpPr>
          <p:cNvPr id="3" name="Header client"/>
          <p:cNvSpPr txBox="1"/>
          <p:nvPr/>
        </p:nvSpPr>
        <p:spPr>
          <a:xfrm>
            <a:off x="822960" y="1024128"/>
            <a:ext cx="2377440" cy="274320"/>
          </a:xfrm>
          <a:prstGeom prst="rect">
            <a:avLst/>
          </a:prstGeom>
          <a:noFill/>
          <a:ln/>
        </p:spPr>
        <p:txBody>
          <a:bodyPr wrap="square" lIns="0" tIns="0" rIns="0" bIns="0" rtlCol="0" anchor="ctr"/>
          <a:lstStyle/>
          <a:p>
            <a:pPr marL="0" indent="0" algn="ctr">
              <a:buNone/>
            </a:pPr>
            <a:r>
              <a:rPr lang="en-US" sz="1400" b="1" dirty="0">
                <a:solidFill>
                  <a:schemeClr val="accent4"/>
                </a:solidFill>
              </a:rPr>
              <a:t>CLIENT</a:t>
            </a:r>
            <a:endParaRPr lang="en-US" sz="1400" dirty="0"/>
          </a:p>
        </p:txBody>
      </p:sp>
      <p:sp>
        <p:nvSpPr>
          <p:cNvPr id="4" name="Header server"/>
          <p:cNvSpPr txBox="1"/>
          <p:nvPr/>
        </p:nvSpPr>
        <p:spPr>
          <a:xfrm>
            <a:off x="5943600" y="1024128"/>
            <a:ext cx="2377440" cy="274320"/>
          </a:xfrm>
          <a:prstGeom prst="rect">
            <a:avLst/>
          </a:prstGeom>
          <a:noFill/>
          <a:ln/>
        </p:spPr>
        <p:txBody>
          <a:bodyPr wrap="square" lIns="0" tIns="0" rIns="0" bIns="0" rtlCol="0" anchor="ctr"/>
          <a:lstStyle/>
          <a:p>
            <a:pPr marL="0" indent="0" algn="ctr">
              <a:buNone/>
            </a:pPr>
            <a:r>
              <a:rPr lang="en-US" sz="1400" b="1" dirty="0">
                <a:solidFill>
                  <a:schemeClr val="accent4"/>
                </a:solidFill>
              </a:rPr>
              <a:t>SERVER</a:t>
            </a:r>
            <a:endParaRPr lang="en-US" sz="1400" dirty="0"/>
          </a:p>
        </p:txBody>
      </p:sp>
      <p:sp>
        <p:nvSpPr>
          <p:cNvPr id="5" name="Client langkah 1"/>
          <p:cNvSpPr txBox="1"/>
          <p:nvPr/>
        </p:nvSpPr>
        <p:spPr>
          <a:xfrm>
            <a:off x="822960" y="1417320"/>
            <a:ext cx="2377440" cy="347472"/>
          </a:xfrm>
          <a:prstGeom prst="roundRect">
            <a:avLst>
              <a:gd name="adj" fmla="val 15789"/>
            </a:avLst>
          </a:prstGeom>
          <a:solidFill>
            <a:schemeClr val="bg2"/>
          </a:solidFill>
          <a:ln/>
        </p:spPr>
        <p:txBody>
          <a:bodyPr wrap="square" lIns="0" tIns="0" rIns="0" bIns="0" rtlCol="0" anchor="ctr"/>
          <a:lstStyle/>
          <a:p>
            <a:pPr marL="0" indent="0" algn="ctr">
              <a:buNone/>
            </a:pPr>
            <a:r>
              <a:rPr lang="en-US" sz="1400" dirty="0">
                <a:solidFill>
                  <a:schemeClr val="tx2"/>
                </a:solidFill>
                <a:latin typeface="Courier New" pitchFamily="34" charset="0"/>
                <a:ea typeface="Courier New" pitchFamily="34" charset="-122"/>
                <a:cs typeface="Courier New" pitchFamily="34" charset="-120"/>
              </a:rPr>
              <a:t>socket()</a:t>
            </a:r>
            <a:endParaRPr lang="en-US" sz="1400" dirty="0"/>
          </a:p>
        </p:txBody>
      </p:sp>
      <p:sp>
        <p:nvSpPr>
          <p:cNvPr id="6" name="Client langkah 4"/>
          <p:cNvSpPr txBox="1"/>
          <p:nvPr/>
        </p:nvSpPr>
        <p:spPr>
          <a:xfrm>
            <a:off x="822960" y="2734056"/>
            <a:ext cx="2377440" cy="347472"/>
          </a:xfrm>
          <a:prstGeom prst="roundRect">
            <a:avLst>
              <a:gd name="adj" fmla="val 15789"/>
            </a:avLst>
          </a:prstGeom>
          <a:solidFill>
            <a:schemeClr val="bg2"/>
          </a:solidFill>
          <a:ln/>
        </p:spPr>
        <p:txBody>
          <a:bodyPr wrap="square" lIns="0" tIns="0" rIns="0" bIns="0" rtlCol="0" anchor="ctr"/>
          <a:lstStyle/>
          <a:p>
            <a:pPr marL="0" indent="0" algn="ctr">
              <a:buNone/>
            </a:pPr>
            <a:r>
              <a:rPr lang="en-US" sz="1400" dirty="0">
                <a:solidFill>
                  <a:schemeClr val="tx2"/>
                </a:solidFill>
                <a:latin typeface="Courier New" pitchFamily="34" charset="0"/>
                <a:ea typeface="Courier New" pitchFamily="34" charset="-122"/>
                <a:cs typeface="Courier New" pitchFamily="34" charset="-120"/>
              </a:rPr>
              <a:t>connect()</a:t>
            </a:r>
            <a:endParaRPr lang="en-US" sz="1400" dirty="0"/>
          </a:p>
        </p:txBody>
      </p:sp>
      <p:sp>
        <p:nvSpPr>
          <p:cNvPr id="7" name="Client langkah 5"/>
          <p:cNvSpPr txBox="1"/>
          <p:nvPr/>
        </p:nvSpPr>
        <p:spPr>
          <a:xfrm>
            <a:off x="822960" y="3172968"/>
            <a:ext cx="2377440" cy="347472"/>
          </a:xfrm>
          <a:prstGeom prst="roundRect">
            <a:avLst>
              <a:gd name="adj" fmla="val 15789"/>
            </a:avLst>
          </a:prstGeom>
          <a:solidFill>
            <a:schemeClr val="bg2"/>
          </a:solidFill>
          <a:ln/>
        </p:spPr>
        <p:txBody>
          <a:bodyPr wrap="square" lIns="0" tIns="0" rIns="0" bIns="0" rtlCol="0" anchor="ctr"/>
          <a:lstStyle/>
          <a:p>
            <a:pPr marL="0" indent="0" algn="ctr">
              <a:buNone/>
            </a:pPr>
            <a:r>
              <a:rPr lang="en-US" sz="1400" dirty="0">
                <a:solidFill>
                  <a:schemeClr val="tx2"/>
                </a:solidFill>
                <a:latin typeface="Courier New" pitchFamily="34" charset="0"/>
                <a:ea typeface="Courier New" pitchFamily="34" charset="-122"/>
                <a:cs typeface="Courier New" pitchFamily="34" charset="-120"/>
              </a:rPr>
              <a:t>sendall("halo")</a:t>
            </a:r>
            <a:endParaRPr lang="en-US" sz="1400" dirty="0"/>
          </a:p>
        </p:txBody>
      </p:sp>
      <p:sp>
        <p:nvSpPr>
          <p:cNvPr id="8" name="Client langkah 6"/>
          <p:cNvSpPr txBox="1"/>
          <p:nvPr/>
        </p:nvSpPr>
        <p:spPr>
          <a:xfrm>
            <a:off x="822960" y="3611880"/>
            <a:ext cx="2377440" cy="347472"/>
          </a:xfrm>
          <a:prstGeom prst="roundRect">
            <a:avLst>
              <a:gd name="adj" fmla="val 15789"/>
            </a:avLst>
          </a:prstGeom>
          <a:solidFill>
            <a:schemeClr val="bg2"/>
          </a:solidFill>
          <a:ln/>
        </p:spPr>
        <p:txBody>
          <a:bodyPr wrap="square" lIns="0" tIns="0" rIns="0" bIns="0" rtlCol="0" anchor="ctr"/>
          <a:lstStyle/>
          <a:p>
            <a:pPr marL="0" indent="0" algn="ctr">
              <a:buNone/>
            </a:pPr>
            <a:r>
              <a:rPr lang="en-US" sz="1400" dirty="0">
                <a:solidFill>
                  <a:schemeClr val="tx2"/>
                </a:solidFill>
                <a:latin typeface="Courier New" pitchFamily="34" charset="0"/>
                <a:ea typeface="Courier New" pitchFamily="34" charset="-122"/>
                <a:cs typeface="Courier New" pitchFamily="34" charset="-120"/>
              </a:rPr>
              <a:t>recv()</a:t>
            </a:r>
            <a:endParaRPr lang="en-US" sz="1400" dirty="0"/>
          </a:p>
        </p:txBody>
      </p:sp>
      <p:sp>
        <p:nvSpPr>
          <p:cNvPr id="9" name="Client langkah 7"/>
          <p:cNvSpPr txBox="1"/>
          <p:nvPr/>
        </p:nvSpPr>
        <p:spPr>
          <a:xfrm>
            <a:off x="822960" y="4050792"/>
            <a:ext cx="2377440" cy="347472"/>
          </a:xfrm>
          <a:prstGeom prst="roundRect">
            <a:avLst>
              <a:gd name="adj" fmla="val 15789"/>
            </a:avLst>
          </a:prstGeom>
          <a:solidFill>
            <a:schemeClr val="bg2"/>
          </a:solidFill>
          <a:ln/>
        </p:spPr>
        <p:txBody>
          <a:bodyPr wrap="square" lIns="0" tIns="0" rIns="0" bIns="0" rtlCol="0" anchor="ctr"/>
          <a:lstStyle/>
          <a:p>
            <a:pPr marL="0" indent="0" algn="ctr">
              <a:buNone/>
            </a:pPr>
            <a:r>
              <a:rPr lang="en-US" sz="1400" dirty="0">
                <a:solidFill>
                  <a:schemeClr val="tx2"/>
                </a:solidFill>
                <a:latin typeface="Courier New" pitchFamily="34" charset="0"/>
                <a:ea typeface="Courier New" pitchFamily="34" charset="-122"/>
                <a:cs typeface="Courier New" pitchFamily="34" charset="-120"/>
              </a:rPr>
              <a:t>close()</a:t>
            </a:r>
            <a:endParaRPr lang="en-US" sz="1400" dirty="0"/>
          </a:p>
        </p:txBody>
      </p:sp>
      <p:sp>
        <p:nvSpPr>
          <p:cNvPr id="10" name="Server langkah 1"/>
          <p:cNvSpPr txBox="1"/>
          <p:nvPr/>
        </p:nvSpPr>
        <p:spPr>
          <a:xfrm>
            <a:off x="5943600" y="1417320"/>
            <a:ext cx="2377440" cy="347472"/>
          </a:xfrm>
          <a:prstGeom prst="roundRect">
            <a:avLst>
              <a:gd name="adj" fmla="val 15789"/>
            </a:avLst>
          </a:prstGeom>
          <a:solidFill>
            <a:schemeClr val="bg2"/>
          </a:solidFill>
          <a:ln/>
        </p:spPr>
        <p:txBody>
          <a:bodyPr wrap="square" lIns="0" tIns="0" rIns="0" bIns="0" rtlCol="0" anchor="ctr"/>
          <a:lstStyle/>
          <a:p>
            <a:pPr marL="0" indent="0" algn="ctr">
              <a:buNone/>
            </a:pPr>
            <a:r>
              <a:rPr lang="en-US" sz="1400" dirty="0">
                <a:solidFill>
                  <a:schemeClr val="tx2"/>
                </a:solidFill>
                <a:latin typeface="Courier New" pitchFamily="34" charset="0"/>
                <a:ea typeface="Courier New" pitchFamily="34" charset="-122"/>
                <a:cs typeface="Courier New" pitchFamily="34" charset="-120"/>
              </a:rPr>
              <a:t>socket()</a:t>
            </a:r>
            <a:endParaRPr lang="en-US" sz="1400" dirty="0"/>
          </a:p>
        </p:txBody>
      </p:sp>
      <p:sp>
        <p:nvSpPr>
          <p:cNvPr id="11" name="Server langkah 2"/>
          <p:cNvSpPr txBox="1"/>
          <p:nvPr/>
        </p:nvSpPr>
        <p:spPr>
          <a:xfrm>
            <a:off x="5943600" y="1856232"/>
            <a:ext cx="2377440" cy="347472"/>
          </a:xfrm>
          <a:prstGeom prst="roundRect">
            <a:avLst>
              <a:gd name="adj" fmla="val 15789"/>
            </a:avLst>
          </a:prstGeom>
          <a:solidFill>
            <a:schemeClr val="bg2"/>
          </a:solidFill>
          <a:ln/>
        </p:spPr>
        <p:txBody>
          <a:bodyPr wrap="square" lIns="0" tIns="0" rIns="0" bIns="0" rtlCol="0" anchor="ctr"/>
          <a:lstStyle/>
          <a:p>
            <a:pPr marL="0" indent="0" algn="ctr">
              <a:buNone/>
            </a:pPr>
            <a:r>
              <a:rPr lang="en-US" sz="1400" dirty="0">
                <a:solidFill>
                  <a:schemeClr val="tx2"/>
                </a:solidFill>
                <a:latin typeface="Courier New" pitchFamily="34" charset="0"/>
                <a:ea typeface="Courier New" pitchFamily="34" charset="-122"/>
                <a:cs typeface="Courier New" pitchFamily="34" charset="-120"/>
              </a:rPr>
              <a:t>bind(ip, port)</a:t>
            </a:r>
            <a:endParaRPr lang="en-US" sz="1400" dirty="0"/>
          </a:p>
        </p:txBody>
      </p:sp>
      <p:sp>
        <p:nvSpPr>
          <p:cNvPr id="12" name="Server langkah 3"/>
          <p:cNvSpPr txBox="1"/>
          <p:nvPr/>
        </p:nvSpPr>
        <p:spPr>
          <a:xfrm>
            <a:off x="5943600" y="2295144"/>
            <a:ext cx="2377440" cy="347472"/>
          </a:xfrm>
          <a:prstGeom prst="roundRect">
            <a:avLst>
              <a:gd name="adj" fmla="val 15789"/>
            </a:avLst>
          </a:prstGeom>
          <a:solidFill>
            <a:schemeClr val="bg2"/>
          </a:solidFill>
          <a:ln/>
        </p:spPr>
        <p:txBody>
          <a:bodyPr wrap="square" lIns="0" tIns="0" rIns="0" bIns="0" rtlCol="0" anchor="ctr"/>
          <a:lstStyle/>
          <a:p>
            <a:pPr marL="0" indent="0" algn="ctr">
              <a:buNone/>
            </a:pPr>
            <a:r>
              <a:rPr lang="en-US" sz="1400" dirty="0">
                <a:solidFill>
                  <a:schemeClr val="tx2"/>
                </a:solidFill>
                <a:latin typeface="Courier New" pitchFamily="34" charset="0"/>
                <a:ea typeface="Courier New" pitchFamily="34" charset="-122"/>
                <a:cs typeface="Courier New" pitchFamily="34" charset="-120"/>
              </a:rPr>
              <a:t>listen()</a:t>
            </a:r>
            <a:endParaRPr lang="en-US" sz="1400" dirty="0"/>
          </a:p>
        </p:txBody>
      </p:sp>
      <p:sp>
        <p:nvSpPr>
          <p:cNvPr id="13" name="Server langkah 4"/>
          <p:cNvSpPr txBox="1"/>
          <p:nvPr/>
        </p:nvSpPr>
        <p:spPr>
          <a:xfrm>
            <a:off x="5943600" y="2734056"/>
            <a:ext cx="2377440" cy="347472"/>
          </a:xfrm>
          <a:prstGeom prst="roundRect">
            <a:avLst>
              <a:gd name="adj" fmla="val 15789"/>
            </a:avLst>
          </a:prstGeom>
          <a:solidFill>
            <a:schemeClr val="bg2"/>
          </a:solidFill>
          <a:ln/>
        </p:spPr>
        <p:txBody>
          <a:bodyPr wrap="square" lIns="0" tIns="0" rIns="0" bIns="0" rtlCol="0" anchor="ctr"/>
          <a:lstStyle/>
          <a:p>
            <a:pPr marL="0" indent="0" algn="ctr">
              <a:buNone/>
            </a:pPr>
            <a:r>
              <a:rPr lang="en-US" sz="1400" dirty="0">
                <a:solidFill>
                  <a:schemeClr val="tx2"/>
                </a:solidFill>
                <a:latin typeface="Courier New" pitchFamily="34" charset="0"/>
                <a:ea typeface="Courier New" pitchFamily="34" charset="-122"/>
                <a:cs typeface="Courier New" pitchFamily="34" charset="-120"/>
              </a:rPr>
              <a:t>accept()</a:t>
            </a:r>
            <a:endParaRPr lang="en-US" sz="1400" dirty="0"/>
          </a:p>
        </p:txBody>
      </p:sp>
      <p:sp>
        <p:nvSpPr>
          <p:cNvPr id="14" name="Server langkah 5"/>
          <p:cNvSpPr txBox="1"/>
          <p:nvPr/>
        </p:nvSpPr>
        <p:spPr>
          <a:xfrm>
            <a:off x="5943600" y="3172968"/>
            <a:ext cx="2377440" cy="347472"/>
          </a:xfrm>
          <a:prstGeom prst="roundRect">
            <a:avLst>
              <a:gd name="adj" fmla="val 15789"/>
            </a:avLst>
          </a:prstGeom>
          <a:solidFill>
            <a:schemeClr val="bg2"/>
          </a:solidFill>
          <a:ln/>
        </p:spPr>
        <p:txBody>
          <a:bodyPr wrap="square" lIns="0" tIns="0" rIns="0" bIns="0" rtlCol="0" anchor="ctr"/>
          <a:lstStyle/>
          <a:p>
            <a:pPr marL="0" indent="0" algn="ctr">
              <a:buNone/>
            </a:pPr>
            <a:r>
              <a:rPr lang="en-US" sz="1400" dirty="0">
                <a:solidFill>
                  <a:schemeClr val="tx2"/>
                </a:solidFill>
                <a:latin typeface="Courier New" pitchFamily="34" charset="0"/>
                <a:ea typeface="Courier New" pitchFamily="34" charset="-122"/>
                <a:cs typeface="Courier New" pitchFamily="34" charset="-120"/>
              </a:rPr>
              <a:t>recv()</a:t>
            </a:r>
            <a:endParaRPr lang="en-US" sz="1400" dirty="0"/>
          </a:p>
        </p:txBody>
      </p:sp>
      <p:sp>
        <p:nvSpPr>
          <p:cNvPr id="15" name="Server langkah 6"/>
          <p:cNvSpPr txBox="1"/>
          <p:nvPr/>
        </p:nvSpPr>
        <p:spPr>
          <a:xfrm>
            <a:off x="5943600" y="3611880"/>
            <a:ext cx="2377440" cy="347472"/>
          </a:xfrm>
          <a:prstGeom prst="roundRect">
            <a:avLst>
              <a:gd name="adj" fmla="val 15789"/>
            </a:avLst>
          </a:prstGeom>
          <a:solidFill>
            <a:schemeClr val="bg2"/>
          </a:solidFill>
          <a:ln/>
        </p:spPr>
        <p:txBody>
          <a:bodyPr wrap="square" lIns="0" tIns="0" rIns="0" bIns="0" rtlCol="0" anchor="ctr"/>
          <a:lstStyle/>
          <a:p>
            <a:pPr marL="0" indent="0" algn="ctr">
              <a:buNone/>
            </a:pPr>
            <a:r>
              <a:rPr lang="en-US" sz="1400" dirty="0">
                <a:solidFill>
                  <a:schemeClr val="tx2"/>
                </a:solidFill>
                <a:latin typeface="Courier New" pitchFamily="34" charset="0"/>
                <a:ea typeface="Courier New" pitchFamily="34" charset="-122"/>
                <a:cs typeface="Courier New" pitchFamily="34" charset="-120"/>
              </a:rPr>
              <a:t>sendall(balasan)</a:t>
            </a:r>
            <a:endParaRPr lang="en-US" sz="1400" dirty="0"/>
          </a:p>
        </p:txBody>
      </p:sp>
      <p:sp>
        <p:nvSpPr>
          <p:cNvPr id="16" name="Server langkah 7"/>
          <p:cNvSpPr txBox="1"/>
          <p:nvPr/>
        </p:nvSpPr>
        <p:spPr>
          <a:xfrm>
            <a:off x="5943600" y="4050792"/>
            <a:ext cx="2377440" cy="347472"/>
          </a:xfrm>
          <a:prstGeom prst="roundRect">
            <a:avLst>
              <a:gd name="adj" fmla="val 15789"/>
            </a:avLst>
          </a:prstGeom>
          <a:solidFill>
            <a:schemeClr val="bg2"/>
          </a:solidFill>
          <a:ln/>
        </p:spPr>
        <p:txBody>
          <a:bodyPr wrap="square" lIns="0" tIns="0" rIns="0" bIns="0" rtlCol="0" anchor="ctr"/>
          <a:lstStyle/>
          <a:p>
            <a:pPr marL="0" indent="0" algn="ctr">
              <a:buNone/>
            </a:pPr>
            <a:r>
              <a:rPr lang="en-US" sz="1400" dirty="0">
                <a:solidFill>
                  <a:schemeClr val="tx2"/>
                </a:solidFill>
                <a:latin typeface="Courier New" pitchFamily="34" charset="0"/>
                <a:ea typeface="Courier New" pitchFamily="34" charset="-122"/>
                <a:cs typeface="Courier New" pitchFamily="34" charset="-120"/>
              </a:rPr>
              <a:t>recv() = b""</a:t>
            </a:r>
            <a:endParaRPr lang="en-US" sz="1400" dirty="0"/>
          </a:p>
        </p:txBody>
      </p:sp>
      <p:sp>
        <p:nvSpPr>
          <p:cNvPr id="17" name="Panah koneksi"/>
          <p:cNvSpPr/>
          <p:nvPr/>
        </p:nvSpPr>
        <p:spPr>
          <a:xfrm>
            <a:off x="3246120" y="2907792"/>
            <a:ext cx="2651760" cy="0"/>
          </a:xfrm>
          <a:prstGeom prst="line">
            <a:avLst/>
          </a:prstGeom>
          <a:noFill/>
          <a:ln w="25400">
            <a:solidFill>
              <a:schemeClr val="accent1"/>
            </a:solidFill>
            <a:prstDash val="solid"/>
            <a:tailEnd type="triangle"/>
          </a:ln>
        </p:spPr>
        <p:txBody>
          <a:bodyPr/>
          <a:lstStyle/>
          <a:p>
            <a:endParaRPr lang="en-US"/>
          </a:p>
        </p:txBody>
      </p:sp>
      <p:sp>
        <p:nvSpPr>
          <p:cNvPr id="18" name="Label panah koneksi"/>
          <p:cNvSpPr txBox="1"/>
          <p:nvPr/>
        </p:nvSpPr>
        <p:spPr>
          <a:xfrm>
            <a:off x="3246120" y="2633472"/>
            <a:ext cx="2651760" cy="237744"/>
          </a:xfrm>
          <a:prstGeom prst="rect">
            <a:avLst/>
          </a:prstGeom>
          <a:noFill/>
          <a:ln/>
        </p:spPr>
        <p:txBody>
          <a:bodyPr wrap="square" lIns="0" tIns="0" rIns="0" bIns="0" rtlCol="0" anchor="ctr"/>
          <a:lstStyle/>
          <a:p>
            <a:pPr marL="0" indent="0" algn="ctr">
              <a:buNone/>
            </a:pPr>
            <a:r>
              <a:rPr lang="en-US" sz="1200" dirty="0">
                <a:solidFill>
                  <a:schemeClr val="accent5"/>
                </a:solidFill>
              </a:rPr>
              <a:t>koneksi</a:t>
            </a:r>
            <a:endParaRPr lang="en-US" sz="1200" dirty="0"/>
          </a:p>
        </p:txBody>
      </p:sp>
      <p:sp>
        <p:nvSpPr>
          <p:cNvPr id="19" name="Panah pesan"/>
          <p:cNvSpPr/>
          <p:nvPr/>
        </p:nvSpPr>
        <p:spPr>
          <a:xfrm>
            <a:off x="3246120" y="3346704"/>
            <a:ext cx="2651760" cy="0"/>
          </a:xfrm>
          <a:prstGeom prst="line">
            <a:avLst/>
          </a:prstGeom>
          <a:noFill/>
          <a:ln w="25400">
            <a:solidFill>
              <a:schemeClr val="accent1"/>
            </a:solidFill>
            <a:prstDash val="solid"/>
            <a:tailEnd type="triangle"/>
          </a:ln>
        </p:spPr>
        <p:txBody>
          <a:bodyPr/>
          <a:lstStyle/>
          <a:p>
            <a:endParaRPr lang="en-US"/>
          </a:p>
        </p:txBody>
      </p:sp>
      <p:sp>
        <p:nvSpPr>
          <p:cNvPr id="20" name="Label panah pesan"/>
          <p:cNvSpPr txBox="1"/>
          <p:nvPr/>
        </p:nvSpPr>
        <p:spPr>
          <a:xfrm>
            <a:off x="3246120" y="3072384"/>
            <a:ext cx="2651760" cy="237744"/>
          </a:xfrm>
          <a:prstGeom prst="rect">
            <a:avLst/>
          </a:prstGeom>
          <a:noFill/>
          <a:ln/>
        </p:spPr>
        <p:txBody>
          <a:bodyPr wrap="square" lIns="0" tIns="0" rIns="0" bIns="0" rtlCol="0" anchor="ctr"/>
          <a:lstStyle/>
          <a:p>
            <a:pPr marL="0" indent="0" algn="ctr">
              <a:buNone/>
            </a:pPr>
            <a:r>
              <a:rPr lang="en-US" sz="1200" dirty="0">
                <a:solidFill>
                  <a:schemeClr val="accent5"/>
                </a:solidFill>
              </a:rPr>
              <a:t>pesan</a:t>
            </a:r>
            <a:endParaRPr lang="en-US" sz="1200" dirty="0"/>
          </a:p>
        </p:txBody>
      </p:sp>
      <p:sp>
        <p:nvSpPr>
          <p:cNvPr id="21" name="Panah balasan"/>
          <p:cNvSpPr/>
          <p:nvPr/>
        </p:nvSpPr>
        <p:spPr>
          <a:xfrm flipH="1">
            <a:off x="3246120" y="3785616"/>
            <a:ext cx="2651760" cy="0"/>
          </a:xfrm>
          <a:prstGeom prst="line">
            <a:avLst/>
          </a:prstGeom>
          <a:noFill/>
          <a:ln w="25400">
            <a:solidFill>
              <a:schemeClr val="accent1"/>
            </a:solidFill>
            <a:prstDash val="solid"/>
            <a:tailEnd type="triangle"/>
          </a:ln>
        </p:spPr>
        <p:txBody>
          <a:bodyPr/>
          <a:lstStyle/>
          <a:p>
            <a:endParaRPr lang="en-US"/>
          </a:p>
        </p:txBody>
      </p:sp>
      <p:sp>
        <p:nvSpPr>
          <p:cNvPr id="22" name="Label panah balasan"/>
          <p:cNvSpPr txBox="1"/>
          <p:nvPr/>
        </p:nvSpPr>
        <p:spPr>
          <a:xfrm>
            <a:off x="3246120" y="3511296"/>
            <a:ext cx="2651760" cy="237744"/>
          </a:xfrm>
          <a:prstGeom prst="rect">
            <a:avLst/>
          </a:prstGeom>
          <a:noFill/>
          <a:ln/>
        </p:spPr>
        <p:txBody>
          <a:bodyPr wrap="square" lIns="0" tIns="0" rIns="0" bIns="0" rtlCol="0" anchor="ctr"/>
          <a:lstStyle/>
          <a:p>
            <a:pPr marL="0" indent="0" algn="ctr">
              <a:buNone/>
            </a:pPr>
            <a:r>
              <a:rPr lang="en-US" sz="1200" dirty="0">
                <a:solidFill>
                  <a:schemeClr val="accent5"/>
                </a:solidFill>
              </a:rPr>
              <a:t>balasan</a:t>
            </a:r>
            <a:endParaRPr lang="en-US" sz="1200" dirty="0"/>
          </a:p>
        </p:txBody>
      </p:sp>
      <p:sp>
        <p:nvSpPr>
          <p:cNvPr id="23" name="Panah FIN (tutup)"/>
          <p:cNvSpPr/>
          <p:nvPr/>
        </p:nvSpPr>
        <p:spPr>
          <a:xfrm>
            <a:off x="3246120" y="4224528"/>
            <a:ext cx="2651760" cy="0"/>
          </a:xfrm>
          <a:prstGeom prst="line">
            <a:avLst/>
          </a:prstGeom>
          <a:noFill/>
          <a:ln w="25400">
            <a:solidFill>
              <a:schemeClr val="accent1"/>
            </a:solidFill>
            <a:prstDash val="solid"/>
            <a:tailEnd type="triangle"/>
          </a:ln>
        </p:spPr>
        <p:txBody>
          <a:bodyPr/>
          <a:lstStyle/>
          <a:p>
            <a:endParaRPr lang="en-US"/>
          </a:p>
        </p:txBody>
      </p:sp>
      <p:sp>
        <p:nvSpPr>
          <p:cNvPr id="24" name="Label panah FIN (tutup)"/>
          <p:cNvSpPr txBox="1"/>
          <p:nvPr/>
        </p:nvSpPr>
        <p:spPr>
          <a:xfrm>
            <a:off x="3246120" y="3950208"/>
            <a:ext cx="2651760" cy="237744"/>
          </a:xfrm>
          <a:prstGeom prst="rect">
            <a:avLst/>
          </a:prstGeom>
          <a:noFill/>
          <a:ln/>
        </p:spPr>
        <p:txBody>
          <a:bodyPr wrap="square" lIns="0" tIns="0" rIns="0" bIns="0" rtlCol="0" anchor="ctr"/>
          <a:lstStyle/>
          <a:p>
            <a:pPr marL="0" indent="0" algn="ctr">
              <a:buNone/>
            </a:pPr>
            <a:r>
              <a:rPr lang="en-US" sz="1200" dirty="0">
                <a:solidFill>
                  <a:schemeClr val="accent5"/>
                </a:solidFill>
              </a:rPr>
              <a:t>FIN (tutup)</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Membuat socket di sisi server</a:t>
            </a:r>
            <a:endParaRPr lang="en-US" sz="3000" dirty="0"/>
          </a:p>
        </p:txBody>
      </p:sp>
      <p:sp>
        <p:nvSpPr>
          <p:cNvPr id="3" name="Kode inisiasi server (kotak)"/>
          <p:cNvSpPr/>
          <p:nvPr/>
        </p:nvSpPr>
        <p:spPr>
          <a:xfrm>
            <a:off x="457200" y="1234440"/>
            <a:ext cx="4572000" cy="2148840"/>
          </a:xfrm>
          <a:prstGeom prst="roundRect">
            <a:avLst>
              <a:gd name="adj" fmla="val 3404"/>
            </a:avLst>
          </a:prstGeom>
          <a:solidFill>
            <a:schemeClr val="tx2"/>
          </a:solidFill>
          <a:ln w="12700">
            <a:solidFill>
              <a:schemeClr val="tx2"/>
            </a:solidFill>
            <a:prstDash val="solid"/>
          </a:ln>
        </p:spPr>
        <p:txBody>
          <a:bodyPr/>
          <a:lstStyle/>
          <a:p>
            <a:endParaRPr lang="en-US"/>
          </a:p>
        </p:txBody>
      </p:sp>
      <p:sp>
        <p:nvSpPr>
          <p:cNvPr id="4" name="Kode inisiasi server"/>
          <p:cNvSpPr txBox="1"/>
          <p:nvPr/>
        </p:nvSpPr>
        <p:spPr>
          <a:xfrm>
            <a:off x="640080" y="1344168"/>
            <a:ext cx="4206240" cy="1929384"/>
          </a:xfrm>
          <a:prstGeom prst="rect">
            <a:avLst/>
          </a:prstGeom>
          <a:noFill/>
          <a:ln/>
        </p:spPr>
        <p:txBody>
          <a:bodyPr wrap="square" lIns="0" tIns="0" rIns="0" bIns="0" rtlCol="0" anchor="t"/>
          <a:lstStyle/>
          <a:p>
            <a:pPr marL="0" indent="0">
              <a:spcAft>
                <a:spcPts val="200"/>
              </a:spcAft>
              <a:buNone/>
            </a:pPr>
            <a:r>
              <a:rPr lang="en-US" sz="1600" dirty="0">
                <a:solidFill>
                  <a:schemeClr val="bg2"/>
                </a:solidFill>
                <a:latin typeface="Courier New" pitchFamily="34" charset="0"/>
                <a:ea typeface="Courier New" pitchFamily="34" charset="-122"/>
                <a:cs typeface="Courier New" pitchFamily="34" charset="-120"/>
              </a:rPr>
              <a:t>server = socket.socket(</a:t>
            </a:r>
            <a:endParaRPr lang="en-US" sz="1600" dirty="0"/>
          </a:p>
          <a:p>
            <a:pPr marL="0" indent="0">
              <a:spcAft>
                <a:spcPts val="200"/>
              </a:spcAft>
              <a:buNone/>
            </a:pPr>
            <a:r>
              <a:rPr lang="en-US" sz="1600" dirty="0">
                <a:solidFill>
                  <a:schemeClr val="bg2"/>
                </a:solidFill>
                <a:latin typeface="Courier New" pitchFamily="34" charset="0"/>
                <a:ea typeface="Courier New" pitchFamily="34" charset="-122"/>
                <a:cs typeface="Courier New" pitchFamily="34" charset="-120"/>
              </a:rPr>
              <a:t>    socket.AF_INET,</a:t>
            </a:r>
            <a:endParaRPr lang="en-US" sz="1600" dirty="0"/>
          </a:p>
          <a:p>
            <a:pPr marL="0" indent="0">
              <a:spcAft>
                <a:spcPts val="200"/>
              </a:spcAft>
              <a:buNone/>
            </a:pPr>
            <a:r>
              <a:rPr lang="en-US" sz="1600" dirty="0">
                <a:solidFill>
                  <a:schemeClr val="bg2"/>
                </a:solidFill>
                <a:latin typeface="Courier New" pitchFamily="34" charset="0"/>
                <a:ea typeface="Courier New" pitchFamily="34" charset="-122"/>
                <a:cs typeface="Courier New" pitchFamily="34" charset="-120"/>
              </a:rPr>
              <a:t>    socket.SOCK_STREAM)</a:t>
            </a:r>
            <a:endParaRPr lang="en-US" sz="1600" dirty="0"/>
          </a:p>
          <a:p>
            <a:pPr marL="0" indent="0">
              <a:spcAft>
                <a:spcPts val="200"/>
              </a:spcAft>
              <a:buNone/>
            </a:pPr>
            <a:r>
              <a:rPr lang="en-US" sz="1600" dirty="0">
                <a:solidFill>
                  <a:schemeClr val="bg2"/>
                </a:solidFill>
                <a:latin typeface="Courier New" pitchFamily="34" charset="0"/>
                <a:ea typeface="Courier New" pitchFamily="34" charset="-122"/>
                <a:cs typeface="Courier New" pitchFamily="34" charset="-120"/>
              </a:rPr>
              <a:t>server.bind(("127.0.0.1", 5000))</a:t>
            </a:r>
            <a:endParaRPr lang="en-US" sz="1600" dirty="0"/>
          </a:p>
          <a:p>
            <a:pPr marL="0" indent="0">
              <a:spcAft>
                <a:spcPts val="200"/>
              </a:spcAft>
              <a:buNone/>
            </a:pPr>
            <a:r>
              <a:rPr lang="en-US" sz="1600" dirty="0">
                <a:solidFill>
                  <a:schemeClr val="bg2"/>
                </a:solidFill>
                <a:latin typeface="Courier New" pitchFamily="34" charset="0"/>
                <a:ea typeface="Courier New" pitchFamily="34" charset="-122"/>
                <a:cs typeface="Courier New" pitchFamily="34" charset="-120"/>
              </a:rPr>
              <a:t>server.listen(5)</a:t>
            </a:r>
            <a:endParaRPr lang="en-US" sz="1600" dirty="0"/>
          </a:p>
          <a:p>
            <a:pPr marL="0" indent="0">
              <a:spcAft>
                <a:spcPts val="200"/>
              </a:spcAft>
              <a:buNone/>
            </a:pPr>
            <a:r>
              <a:rPr lang="en-US" sz="1600" dirty="0">
                <a:solidFill>
                  <a:schemeClr val="bg2"/>
                </a:solidFill>
                <a:latin typeface="Courier New" pitchFamily="34" charset="0"/>
                <a:ea typeface="Courier New" pitchFamily="34" charset="-122"/>
                <a:cs typeface="Courier New" pitchFamily="34" charset="-120"/>
              </a:rPr>
              <a:t>conn, addr = server.accept()</a:t>
            </a:r>
            <a:endParaRPr lang="en-US" sz="1600" dirty="0"/>
          </a:p>
        </p:txBody>
      </p:sp>
      <p:sp>
        <p:nvSpPr>
          <p:cNvPr id="5" name="Catatan bind client"/>
          <p:cNvSpPr txBox="1"/>
          <p:nvPr/>
        </p:nvSpPr>
        <p:spPr>
          <a:xfrm>
            <a:off x="457200" y="3566160"/>
            <a:ext cx="4572000" cy="548640"/>
          </a:xfrm>
          <a:prstGeom prst="rect">
            <a:avLst/>
          </a:prstGeom>
          <a:noFill/>
          <a:ln/>
        </p:spPr>
        <p:txBody>
          <a:bodyPr wrap="square" lIns="0" tIns="0" rIns="0" bIns="0" rtlCol="0" anchor="t"/>
          <a:lstStyle/>
          <a:p>
            <a:pPr marL="0" indent="0">
              <a:buNone/>
            </a:pPr>
            <a:r>
              <a:rPr lang="en-US" sz="1400" dirty="0">
                <a:solidFill>
                  <a:schemeClr val="accent5"/>
                </a:solidFill>
              </a:rPr>
              <a:t>Client tidak perlu bind(). Sistem operasi memilihkan port sementara saat connect().</a:t>
            </a:r>
            <a:endParaRPr lang="en-US" sz="1400" dirty="0"/>
          </a:p>
        </p:txBody>
      </p:sp>
      <p:sp>
        <p:nvSpPr>
          <p:cNvPr id="6" name="Penjelasan AF_INET dan SOCK_STREAM"/>
          <p:cNvSpPr txBox="1"/>
          <p:nvPr/>
        </p:nvSpPr>
        <p:spPr>
          <a:xfrm>
            <a:off x="5394960" y="1234440"/>
            <a:ext cx="3291840" cy="749808"/>
          </a:xfrm>
          <a:prstGeom prst="rect">
            <a:avLst/>
          </a:prstGeom>
          <a:noFill/>
          <a:ln/>
        </p:spPr>
        <p:txBody>
          <a:bodyPr wrap="square" lIns="0" tIns="0" rIns="0" bIns="0" rtlCol="0" anchor="t"/>
          <a:lstStyle/>
          <a:p>
            <a:pPr marL="0" indent="0">
              <a:buNone/>
            </a:pPr>
            <a:r>
              <a:rPr lang="en-US" sz="1400" b="1" dirty="0">
                <a:solidFill>
                  <a:schemeClr val="tx2"/>
                </a:solidFill>
              </a:rPr>
              <a:t>AF_INET dan SOCK_STREAM</a:t>
            </a:r>
            <a:endParaRPr lang="en-US" sz="1400" dirty="0"/>
          </a:p>
          <a:p>
            <a:pPr marL="0" indent="0">
              <a:buNone/>
            </a:pPr>
            <a:r>
              <a:rPr lang="en-US" sz="1400" dirty="0">
                <a:solidFill>
                  <a:schemeClr val="tx1"/>
                </a:solidFill>
              </a:rPr>
              <a:t>IPv4 dan TCP (aliran data berurutan)</a:t>
            </a:r>
            <a:endParaRPr lang="en-US" sz="1400" dirty="0"/>
          </a:p>
        </p:txBody>
      </p:sp>
      <p:sp>
        <p:nvSpPr>
          <p:cNvPr id="7" name="Penjelasan bind()"/>
          <p:cNvSpPr txBox="1"/>
          <p:nvPr/>
        </p:nvSpPr>
        <p:spPr>
          <a:xfrm>
            <a:off x="5394960" y="2057400"/>
            <a:ext cx="3291840" cy="749808"/>
          </a:xfrm>
          <a:prstGeom prst="rect">
            <a:avLst/>
          </a:prstGeom>
          <a:noFill/>
          <a:ln/>
        </p:spPr>
        <p:txBody>
          <a:bodyPr wrap="square" lIns="0" tIns="0" rIns="0" bIns="0" rtlCol="0" anchor="t"/>
          <a:lstStyle/>
          <a:p>
            <a:pPr marL="0" indent="0">
              <a:buNone/>
            </a:pPr>
            <a:r>
              <a:rPr lang="en-US" sz="1400" b="1" dirty="0">
                <a:solidFill>
                  <a:schemeClr val="tx2"/>
                </a:solidFill>
              </a:rPr>
              <a:t>bind()</a:t>
            </a:r>
            <a:endParaRPr lang="en-US" sz="1400" dirty="0"/>
          </a:p>
          <a:p>
            <a:pPr marL="0" indent="0">
              <a:buNone/>
            </a:pPr>
            <a:r>
              <a:rPr lang="en-US" sz="1400" dirty="0">
                <a:solidFill>
                  <a:schemeClr val="tx1"/>
                </a:solidFill>
              </a:rPr>
              <a:t>Memasang socket ke IP dan port tertentu</a:t>
            </a:r>
            <a:endParaRPr lang="en-US" sz="1400" dirty="0"/>
          </a:p>
        </p:txBody>
      </p:sp>
      <p:sp>
        <p:nvSpPr>
          <p:cNvPr id="8" name="Penjelasan listen(5)"/>
          <p:cNvSpPr txBox="1"/>
          <p:nvPr/>
        </p:nvSpPr>
        <p:spPr>
          <a:xfrm>
            <a:off x="5394960" y="2880360"/>
            <a:ext cx="3291840" cy="749808"/>
          </a:xfrm>
          <a:prstGeom prst="rect">
            <a:avLst/>
          </a:prstGeom>
          <a:noFill/>
          <a:ln/>
        </p:spPr>
        <p:txBody>
          <a:bodyPr wrap="square" lIns="0" tIns="0" rIns="0" bIns="0" rtlCol="0" anchor="t"/>
          <a:lstStyle/>
          <a:p>
            <a:pPr marL="0" indent="0">
              <a:buNone/>
            </a:pPr>
            <a:r>
              <a:rPr lang="en-US" sz="1400" b="1" dirty="0">
                <a:solidFill>
                  <a:schemeClr val="tx2"/>
                </a:solidFill>
              </a:rPr>
              <a:t>listen(5)</a:t>
            </a:r>
            <a:endParaRPr lang="en-US" sz="1400" dirty="0"/>
          </a:p>
          <a:p>
            <a:pPr marL="0" indent="0">
              <a:buNone/>
            </a:pPr>
            <a:r>
              <a:rPr lang="en-US" sz="1400" dirty="0">
                <a:solidFill>
                  <a:schemeClr val="tx1"/>
                </a:solidFill>
              </a:rPr>
              <a:t>Siap menerima koneksi, antrean maksimal 5</a:t>
            </a:r>
            <a:endParaRPr lang="en-US" sz="1400" dirty="0"/>
          </a:p>
        </p:txBody>
      </p:sp>
      <p:sp>
        <p:nvSpPr>
          <p:cNvPr id="9" name="Penjelasan accept()"/>
          <p:cNvSpPr txBox="1"/>
          <p:nvPr/>
        </p:nvSpPr>
        <p:spPr>
          <a:xfrm>
            <a:off x="5394960" y="3703320"/>
            <a:ext cx="3291840" cy="749808"/>
          </a:xfrm>
          <a:prstGeom prst="rect">
            <a:avLst/>
          </a:prstGeom>
          <a:noFill/>
          <a:ln/>
        </p:spPr>
        <p:txBody>
          <a:bodyPr wrap="square" lIns="0" tIns="0" rIns="0" bIns="0" rtlCol="0" anchor="t"/>
          <a:lstStyle/>
          <a:p>
            <a:pPr marL="0" indent="0">
              <a:buNone/>
            </a:pPr>
            <a:r>
              <a:rPr lang="en-US" sz="1400" b="1" dirty="0">
                <a:solidFill>
                  <a:schemeClr val="tx2"/>
                </a:solidFill>
              </a:rPr>
              <a:t>accept()</a:t>
            </a:r>
            <a:endParaRPr lang="en-US" sz="1400" dirty="0"/>
          </a:p>
          <a:p>
            <a:pPr marL="0" indent="0">
              <a:buNone/>
            </a:pPr>
            <a:r>
              <a:rPr lang="en-US" sz="1400" dirty="0">
                <a:solidFill>
                  <a:schemeClr val="tx1"/>
                </a:solidFill>
              </a:rPr>
              <a:t>Menunggu client, blocking sampai ada yang datang</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Transfer data: dari string ke bytes</a:t>
            </a:r>
            <a:endParaRPr lang="en-US" sz="3000" dirty="0"/>
          </a:p>
        </p:txBody>
      </p:sp>
      <p:sp>
        <p:nvSpPr>
          <p:cNvPr id="3" name="Kotak string kirim"/>
          <p:cNvSpPr txBox="1"/>
          <p:nvPr/>
        </p:nvSpPr>
        <p:spPr>
          <a:xfrm>
            <a:off x="457200" y="1280160"/>
            <a:ext cx="2103120" cy="685800"/>
          </a:xfrm>
          <a:prstGeom prst="roundRect">
            <a:avLst>
              <a:gd name="adj" fmla="val 10667"/>
            </a:avLst>
          </a:prstGeom>
          <a:solidFill>
            <a:schemeClr val="bg2"/>
          </a:solidFill>
          <a:ln/>
        </p:spPr>
        <p:txBody>
          <a:bodyPr wrap="square" lIns="0" tIns="0" rIns="0" bIns="0" rtlCol="0" anchor="ctr"/>
          <a:lstStyle/>
          <a:p>
            <a:pPr marL="0" indent="0" algn="ctr">
              <a:buNone/>
            </a:pPr>
            <a:r>
              <a:rPr lang="en-US" sz="1600" b="1" dirty="0">
                <a:solidFill>
                  <a:schemeClr val="tx2"/>
                </a:solidFill>
                <a:latin typeface="Courier New" pitchFamily="34" charset="0"/>
                <a:ea typeface="Courier New" pitchFamily="34" charset="-122"/>
                <a:cs typeface="Courier New" pitchFamily="34" charset="-120"/>
              </a:rPr>
              <a:t>string "halo"</a:t>
            </a:r>
            <a:endParaRPr lang="en-US" sz="1600" dirty="0"/>
          </a:p>
        </p:txBody>
      </p:sp>
      <p:sp>
        <p:nvSpPr>
          <p:cNvPr id="4" name="Kotak bytes"/>
          <p:cNvSpPr txBox="1"/>
          <p:nvPr/>
        </p:nvSpPr>
        <p:spPr>
          <a:xfrm>
            <a:off x="3520440" y="1280160"/>
            <a:ext cx="2103120" cy="685800"/>
          </a:xfrm>
          <a:prstGeom prst="roundRect">
            <a:avLst>
              <a:gd name="adj" fmla="val 10667"/>
            </a:avLst>
          </a:prstGeom>
          <a:solidFill>
            <a:schemeClr val="accent1"/>
          </a:solidFill>
          <a:ln/>
        </p:spPr>
        <p:txBody>
          <a:bodyPr wrap="square" lIns="0" tIns="0" rIns="0" bIns="0" rtlCol="0" anchor="ctr"/>
          <a:lstStyle/>
          <a:p>
            <a:pPr marL="0" indent="0" algn="ctr">
              <a:buNone/>
            </a:pPr>
            <a:r>
              <a:rPr lang="en-US" sz="1600" b="1" dirty="0">
                <a:solidFill>
                  <a:schemeClr val="tx2"/>
                </a:solidFill>
                <a:latin typeface="Courier New" pitchFamily="34" charset="0"/>
                <a:ea typeface="Courier New" pitchFamily="34" charset="-122"/>
                <a:cs typeface="Courier New" pitchFamily="34" charset="-120"/>
              </a:rPr>
              <a:t>bytes b'halo'</a:t>
            </a:r>
            <a:endParaRPr lang="en-US" sz="1600" dirty="0"/>
          </a:p>
        </p:txBody>
      </p:sp>
      <p:sp>
        <p:nvSpPr>
          <p:cNvPr id="5" name="Kotak string terima"/>
          <p:cNvSpPr txBox="1"/>
          <p:nvPr/>
        </p:nvSpPr>
        <p:spPr>
          <a:xfrm>
            <a:off x="6583680" y="1280160"/>
            <a:ext cx="2103120" cy="685800"/>
          </a:xfrm>
          <a:prstGeom prst="roundRect">
            <a:avLst>
              <a:gd name="adj" fmla="val 10667"/>
            </a:avLst>
          </a:prstGeom>
          <a:solidFill>
            <a:schemeClr val="bg2"/>
          </a:solidFill>
          <a:ln/>
        </p:spPr>
        <p:txBody>
          <a:bodyPr wrap="square" lIns="0" tIns="0" rIns="0" bIns="0" rtlCol="0" anchor="ctr"/>
          <a:lstStyle/>
          <a:p>
            <a:pPr marL="0" indent="0" algn="ctr">
              <a:buNone/>
            </a:pPr>
            <a:r>
              <a:rPr lang="en-US" sz="1600" b="1" dirty="0">
                <a:solidFill>
                  <a:schemeClr val="tx2"/>
                </a:solidFill>
                <a:latin typeface="Courier New" pitchFamily="34" charset="0"/>
                <a:ea typeface="Courier New" pitchFamily="34" charset="-122"/>
                <a:cs typeface="Courier New" pitchFamily="34" charset="-120"/>
              </a:rPr>
              <a:t>string "halo"</a:t>
            </a:r>
            <a:endParaRPr lang="en-US" sz="1600" dirty="0"/>
          </a:p>
        </p:txBody>
      </p:sp>
      <p:sp>
        <p:nvSpPr>
          <p:cNvPr id="6" name="Panah encode"/>
          <p:cNvSpPr/>
          <p:nvPr/>
        </p:nvSpPr>
        <p:spPr>
          <a:xfrm>
            <a:off x="2606040" y="1623060"/>
            <a:ext cx="868680" cy="0"/>
          </a:xfrm>
          <a:prstGeom prst="line">
            <a:avLst/>
          </a:prstGeom>
          <a:noFill/>
          <a:ln w="25400">
            <a:solidFill>
              <a:schemeClr val="accent1"/>
            </a:solidFill>
            <a:prstDash val="solid"/>
            <a:tailEnd type="triangle"/>
          </a:ln>
        </p:spPr>
        <p:txBody>
          <a:bodyPr/>
          <a:lstStyle/>
          <a:p>
            <a:endParaRPr lang="en-US"/>
          </a:p>
        </p:txBody>
      </p:sp>
      <p:sp>
        <p:nvSpPr>
          <p:cNvPr id="7" name="Panah decode"/>
          <p:cNvSpPr/>
          <p:nvPr/>
        </p:nvSpPr>
        <p:spPr>
          <a:xfrm>
            <a:off x="5669280" y="1623060"/>
            <a:ext cx="868680" cy="0"/>
          </a:xfrm>
          <a:prstGeom prst="line">
            <a:avLst/>
          </a:prstGeom>
          <a:noFill/>
          <a:ln w="25400">
            <a:solidFill>
              <a:schemeClr val="accent1"/>
            </a:solidFill>
            <a:prstDash val="solid"/>
            <a:tailEnd type="triangle"/>
          </a:ln>
        </p:spPr>
        <p:txBody>
          <a:bodyPr/>
          <a:lstStyle/>
          <a:p>
            <a:endParaRPr lang="en-US"/>
          </a:p>
        </p:txBody>
      </p:sp>
      <p:sp>
        <p:nvSpPr>
          <p:cNvPr id="8" name="Label encode"/>
          <p:cNvSpPr txBox="1"/>
          <p:nvPr/>
        </p:nvSpPr>
        <p:spPr>
          <a:xfrm>
            <a:off x="2606040" y="1261872"/>
            <a:ext cx="868680" cy="274320"/>
          </a:xfrm>
          <a:prstGeom prst="rect">
            <a:avLst/>
          </a:prstGeom>
          <a:noFill/>
          <a:ln/>
        </p:spPr>
        <p:txBody>
          <a:bodyPr wrap="square" lIns="0" tIns="0" rIns="0" bIns="0" rtlCol="0" anchor="ctr"/>
          <a:lstStyle/>
          <a:p>
            <a:pPr marL="0" indent="0" algn="ctr">
              <a:buNone/>
            </a:pPr>
            <a:r>
              <a:rPr lang="en-US" sz="1200" dirty="0">
                <a:solidFill>
                  <a:schemeClr val="accent5"/>
                </a:solidFill>
                <a:latin typeface="Courier New" pitchFamily="34" charset="0"/>
                <a:ea typeface="Courier New" pitchFamily="34" charset="-122"/>
                <a:cs typeface="Courier New" pitchFamily="34" charset="-120"/>
              </a:rPr>
              <a:t>.encode()</a:t>
            </a:r>
            <a:endParaRPr lang="en-US" sz="1200" dirty="0"/>
          </a:p>
        </p:txBody>
      </p:sp>
      <p:sp>
        <p:nvSpPr>
          <p:cNvPr id="9" name="Label decode"/>
          <p:cNvSpPr txBox="1"/>
          <p:nvPr/>
        </p:nvSpPr>
        <p:spPr>
          <a:xfrm>
            <a:off x="5669280" y="1261872"/>
            <a:ext cx="868680" cy="274320"/>
          </a:xfrm>
          <a:prstGeom prst="rect">
            <a:avLst/>
          </a:prstGeom>
          <a:noFill/>
          <a:ln/>
        </p:spPr>
        <p:txBody>
          <a:bodyPr wrap="square" lIns="0" tIns="0" rIns="0" bIns="0" rtlCol="0" anchor="ctr"/>
          <a:lstStyle/>
          <a:p>
            <a:pPr marL="0" indent="0" algn="ctr">
              <a:buNone/>
            </a:pPr>
            <a:r>
              <a:rPr lang="en-US" sz="1200" dirty="0">
                <a:solidFill>
                  <a:schemeClr val="accent5"/>
                </a:solidFill>
                <a:latin typeface="Courier New" pitchFamily="34" charset="0"/>
                <a:ea typeface="Courier New" pitchFamily="34" charset="-122"/>
                <a:cs typeface="Courier New" pitchFamily="34" charset="-120"/>
              </a:rPr>
              <a:t>.decode()</a:t>
            </a:r>
            <a:endParaRPr lang="en-US" sz="1200" dirty="0"/>
          </a:p>
        </p:txBody>
      </p:sp>
      <p:sp>
        <p:nvSpPr>
          <p:cNvPr id="10" name="Catatan bytes"/>
          <p:cNvSpPr txBox="1"/>
          <p:nvPr/>
        </p:nvSpPr>
        <p:spPr>
          <a:xfrm>
            <a:off x="457200" y="2103120"/>
            <a:ext cx="8229600" cy="320040"/>
          </a:xfrm>
          <a:prstGeom prst="rect">
            <a:avLst/>
          </a:prstGeom>
          <a:noFill/>
          <a:ln/>
        </p:spPr>
        <p:txBody>
          <a:bodyPr wrap="square" lIns="0" tIns="0" rIns="0" bIns="0" rtlCol="0" anchor="ctr"/>
          <a:lstStyle/>
          <a:p>
            <a:pPr marL="0" indent="0">
              <a:buNone/>
            </a:pPr>
            <a:r>
              <a:rPr lang="en-US" sz="1400" i="1" dirty="0">
                <a:solidFill>
                  <a:schemeClr val="accent5"/>
                </a:solidFill>
              </a:rPr>
              <a:t>Socket hanya mengenal bytes, bukan string. Bytes inilah yang berjalan lewat jaringan.</a:t>
            </a:r>
            <a:endParaRPr lang="en-US" sz="1400" dirty="0"/>
          </a:p>
        </p:txBody>
      </p:sp>
      <p:sp>
        <p:nvSpPr>
          <p:cNvPr id="11" name="Kartu sendall()"/>
          <p:cNvSpPr/>
          <p:nvPr/>
        </p:nvSpPr>
        <p:spPr>
          <a:xfrm>
            <a:off x="457200" y="2606040"/>
            <a:ext cx="2560320" cy="1691640"/>
          </a:xfrm>
          <a:prstGeom prst="roundRect">
            <a:avLst>
              <a:gd name="adj" fmla="val 4324"/>
            </a:avLst>
          </a:prstGeom>
          <a:solidFill>
            <a:schemeClr val="bg2"/>
          </a:solidFill>
          <a:ln w="12700">
            <a:solidFill>
              <a:schemeClr val="bg2"/>
            </a:solidFill>
            <a:prstDash val="solid"/>
          </a:ln>
        </p:spPr>
        <p:txBody>
          <a:bodyPr/>
          <a:lstStyle/>
          <a:p>
            <a:endParaRPr lang="en-US"/>
          </a:p>
        </p:txBody>
      </p:sp>
      <p:sp>
        <p:nvSpPr>
          <p:cNvPr id="12" name="Judul sendall()"/>
          <p:cNvSpPr txBox="1"/>
          <p:nvPr/>
        </p:nvSpPr>
        <p:spPr>
          <a:xfrm>
            <a:off x="640080" y="2743200"/>
            <a:ext cx="2194560" cy="320040"/>
          </a:xfrm>
          <a:prstGeom prst="rect">
            <a:avLst/>
          </a:prstGeom>
          <a:noFill/>
          <a:ln/>
        </p:spPr>
        <p:txBody>
          <a:bodyPr wrap="square" lIns="0" tIns="0" rIns="0" bIns="0" rtlCol="0" anchor="ctr"/>
          <a:lstStyle/>
          <a:p>
            <a:pPr marL="0" indent="0">
              <a:buNone/>
            </a:pPr>
            <a:r>
              <a:rPr lang="en-US" sz="1600" b="1" dirty="0">
                <a:solidFill>
                  <a:schemeClr val="tx2"/>
                </a:solidFill>
                <a:latin typeface="Courier New" pitchFamily="34" charset="0"/>
                <a:ea typeface="Courier New" pitchFamily="34" charset="-122"/>
                <a:cs typeface="Courier New" pitchFamily="34" charset="-120"/>
              </a:rPr>
              <a:t>sendall()</a:t>
            </a:r>
            <a:endParaRPr lang="en-US" sz="1600" dirty="0"/>
          </a:p>
        </p:txBody>
      </p:sp>
      <p:sp>
        <p:nvSpPr>
          <p:cNvPr id="13" name="Deskripsi sendall()"/>
          <p:cNvSpPr txBox="1"/>
          <p:nvPr/>
        </p:nvSpPr>
        <p:spPr>
          <a:xfrm>
            <a:off x="640080" y="3154680"/>
            <a:ext cx="2194560" cy="1051560"/>
          </a:xfrm>
          <a:prstGeom prst="rect">
            <a:avLst/>
          </a:prstGeom>
          <a:noFill/>
          <a:ln/>
        </p:spPr>
        <p:txBody>
          <a:bodyPr wrap="square" lIns="0" tIns="0" rIns="0" bIns="0" rtlCol="0" anchor="t"/>
          <a:lstStyle/>
          <a:p>
            <a:pPr marL="0" indent="0">
              <a:buNone/>
            </a:pPr>
            <a:r>
              <a:rPr lang="en-US" sz="1400" dirty="0">
                <a:solidFill>
                  <a:schemeClr val="tx1"/>
                </a:solidFill>
              </a:rPr>
              <a:t>Mengirim semua data sampai habis. send() boleh mengirim sebagian saja.</a:t>
            </a:r>
            <a:endParaRPr lang="en-US" sz="1400" dirty="0"/>
          </a:p>
        </p:txBody>
      </p:sp>
      <p:sp>
        <p:nvSpPr>
          <p:cNvPr id="14" name="Kartu recv(1024)"/>
          <p:cNvSpPr/>
          <p:nvPr/>
        </p:nvSpPr>
        <p:spPr>
          <a:xfrm>
            <a:off x="3291840" y="2606040"/>
            <a:ext cx="2560320" cy="1691640"/>
          </a:xfrm>
          <a:prstGeom prst="roundRect">
            <a:avLst>
              <a:gd name="adj" fmla="val 4324"/>
            </a:avLst>
          </a:prstGeom>
          <a:solidFill>
            <a:schemeClr val="bg2"/>
          </a:solidFill>
          <a:ln w="12700">
            <a:solidFill>
              <a:schemeClr val="bg2"/>
            </a:solidFill>
            <a:prstDash val="solid"/>
          </a:ln>
        </p:spPr>
        <p:txBody>
          <a:bodyPr/>
          <a:lstStyle/>
          <a:p>
            <a:endParaRPr lang="en-US"/>
          </a:p>
        </p:txBody>
      </p:sp>
      <p:sp>
        <p:nvSpPr>
          <p:cNvPr id="15" name="Judul recv(1024)"/>
          <p:cNvSpPr txBox="1"/>
          <p:nvPr/>
        </p:nvSpPr>
        <p:spPr>
          <a:xfrm>
            <a:off x="3474720" y="2743200"/>
            <a:ext cx="2194560" cy="320040"/>
          </a:xfrm>
          <a:prstGeom prst="rect">
            <a:avLst/>
          </a:prstGeom>
          <a:noFill/>
          <a:ln/>
        </p:spPr>
        <p:txBody>
          <a:bodyPr wrap="square" lIns="0" tIns="0" rIns="0" bIns="0" rtlCol="0" anchor="ctr"/>
          <a:lstStyle/>
          <a:p>
            <a:pPr marL="0" indent="0">
              <a:buNone/>
            </a:pPr>
            <a:r>
              <a:rPr lang="en-US" sz="1600" b="1" dirty="0">
                <a:solidFill>
                  <a:schemeClr val="tx2"/>
                </a:solidFill>
                <a:latin typeface="Courier New" pitchFamily="34" charset="0"/>
                <a:ea typeface="Courier New" pitchFamily="34" charset="-122"/>
                <a:cs typeface="Courier New" pitchFamily="34" charset="-120"/>
              </a:rPr>
              <a:t>recv(1024)</a:t>
            </a:r>
            <a:endParaRPr lang="en-US" sz="1600" dirty="0"/>
          </a:p>
        </p:txBody>
      </p:sp>
      <p:sp>
        <p:nvSpPr>
          <p:cNvPr id="16" name="Deskripsi recv(1024)"/>
          <p:cNvSpPr txBox="1"/>
          <p:nvPr/>
        </p:nvSpPr>
        <p:spPr>
          <a:xfrm>
            <a:off x="3474720" y="3154680"/>
            <a:ext cx="2194560" cy="1051560"/>
          </a:xfrm>
          <a:prstGeom prst="rect">
            <a:avLst/>
          </a:prstGeom>
          <a:noFill/>
          <a:ln/>
        </p:spPr>
        <p:txBody>
          <a:bodyPr wrap="square" lIns="0" tIns="0" rIns="0" bIns="0" rtlCol="0" anchor="t"/>
          <a:lstStyle/>
          <a:p>
            <a:pPr marL="0" indent="0">
              <a:buNone/>
            </a:pPr>
            <a:r>
              <a:rPr lang="en-US" sz="1400" dirty="0">
                <a:solidFill>
                  <a:schemeClr val="tx1"/>
                </a:solidFill>
              </a:rPr>
              <a:t>Membaca maksimal 1024 byte sekali panggil. Sisa data dibaca di panggilan berikutnya.</a:t>
            </a:r>
            <a:endParaRPr lang="en-US" sz="1400" dirty="0"/>
          </a:p>
        </p:txBody>
      </p:sp>
      <p:sp>
        <p:nvSpPr>
          <p:cNvPr id="17" name="Kartu recv() = b&quot;&quot;"/>
          <p:cNvSpPr/>
          <p:nvPr/>
        </p:nvSpPr>
        <p:spPr>
          <a:xfrm>
            <a:off x="6126480" y="2606040"/>
            <a:ext cx="2560320" cy="1691640"/>
          </a:xfrm>
          <a:prstGeom prst="roundRect">
            <a:avLst>
              <a:gd name="adj" fmla="val 4324"/>
            </a:avLst>
          </a:prstGeom>
          <a:solidFill>
            <a:schemeClr val="bg2"/>
          </a:solidFill>
          <a:ln w="12700">
            <a:solidFill>
              <a:schemeClr val="bg2"/>
            </a:solidFill>
            <a:prstDash val="solid"/>
          </a:ln>
        </p:spPr>
        <p:txBody>
          <a:bodyPr/>
          <a:lstStyle/>
          <a:p>
            <a:endParaRPr lang="en-US"/>
          </a:p>
        </p:txBody>
      </p:sp>
      <p:sp>
        <p:nvSpPr>
          <p:cNvPr id="18" name="Judul recv() = b&amp;quot;&amp;quot;"/>
          <p:cNvSpPr txBox="1"/>
          <p:nvPr/>
        </p:nvSpPr>
        <p:spPr>
          <a:xfrm>
            <a:off x="6309360" y="2743200"/>
            <a:ext cx="2194560" cy="320040"/>
          </a:xfrm>
          <a:prstGeom prst="rect">
            <a:avLst/>
          </a:prstGeom>
          <a:noFill/>
          <a:ln/>
        </p:spPr>
        <p:txBody>
          <a:bodyPr wrap="square" lIns="0" tIns="0" rIns="0" bIns="0" rtlCol="0" anchor="ctr"/>
          <a:lstStyle/>
          <a:p>
            <a:pPr marL="0" indent="0">
              <a:buNone/>
            </a:pPr>
            <a:r>
              <a:rPr lang="en-US" sz="1600" b="1" dirty="0">
                <a:solidFill>
                  <a:schemeClr val="tx2"/>
                </a:solidFill>
                <a:latin typeface="Courier New" pitchFamily="34" charset="0"/>
                <a:ea typeface="Courier New" pitchFamily="34" charset="-122"/>
                <a:cs typeface="Courier New" pitchFamily="34" charset="-120"/>
              </a:rPr>
              <a:t>recv() = b""</a:t>
            </a:r>
            <a:endParaRPr lang="en-US" sz="1600" dirty="0"/>
          </a:p>
        </p:txBody>
      </p:sp>
      <p:sp>
        <p:nvSpPr>
          <p:cNvPr id="19" name="Deskripsi recv() = b&amp;quot;&amp;quot;"/>
          <p:cNvSpPr txBox="1"/>
          <p:nvPr/>
        </p:nvSpPr>
        <p:spPr>
          <a:xfrm>
            <a:off x="6309360" y="3154680"/>
            <a:ext cx="2194560" cy="1051560"/>
          </a:xfrm>
          <a:prstGeom prst="rect">
            <a:avLst/>
          </a:prstGeom>
          <a:noFill/>
          <a:ln/>
        </p:spPr>
        <p:txBody>
          <a:bodyPr wrap="square" lIns="0" tIns="0" rIns="0" bIns="0" rtlCol="0" anchor="t"/>
          <a:lstStyle/>
          <a:p>
            <a:pPr marL="0" indent="0">
              <a:buNone/>
            </a:pPr>
            <a:r>
              <a:rPr lang="en-US" sz="1400" dirty="0">
                <a:solidFill>
                  <a:schemeClr val="tx1"/>
                </a:solidFill>
              </a:rPr>
              <a:t>Tanda lawan sudah menutup koneksi. Harus dicek supaya loop berhenti.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Membuka dan menutup koneksi TCP</a:t>
            </a:r>
            <a:endParaRPr lang="en-US" sz="3000" dirty="0"/>
          </a:p>
        </p:txBody>
      </p:sp>
      <p:sp>
        <p:nvSpPr>
          <p:cNvPr id="3" name="Panel buka"/>
          <p:cNvSpPr/>
          <p:nvPr/>
        </p:nvSpPr>
        <p:spPr>
          <a:xfrm>
            <a:off x="457200" y="1097280"/>
            <a:ext cx="3840480" cy="2606040"/>
          </a:xfrm>
          <a:prstGeom prst="roundRect">
            <a:avLst>
              <a:gd name="adj" fmla="val 2807"/>
            </a:avLst>
          </a:prstGeom>
          <a:solidFill>
            <a:schemeClr val="bg2"/>
          </a:solidFill>
          <a:ln w="12700">
            <a:solidFill>
              <a:schemeClr val="bg2"/>
            </a:solidFill>
            <a:prstDash val="solid"/>
          </a:ln>
        </p:spPr>
        <p:txBody>
          <a:bodyPr/>
          <a:lstStyle/>
          <a:p>
            <a:endParaRPr lang="en-US"/>
          </a:p>
        </p:txBody>
      </p:sp>
      <p:sp>
        <p:nvSpPr>
          <p:cNvPr id="4" name="Judul buka"/>
          <p:cNvSpPr txBox="1"/>
          <p:nvPr/>
        </p:nvSpPr>
        <p:spPr>
          <a:xfrm>
            <a:off x="640080" y="1170432"/>
            <a:ext cx="3474720" cy="292608"/>
          </a:xfrm>
          <a:prstGeom prst="rect">
            <a:avLst/>
          </a:prstGeom>
          <a:noFill/>
          <a:ln/>
        </p:spPr>
        <p:txBody>
          <a:bodyPr wrap="square" lIns="0" tIns="0" rIns="0" bIns="0" rtlCol="0" anchor="ctr"/>
          <a:lstStyle/>
          <a:p>
            <a:pPr marL="0" indent="0">
              <a:buNone/>
            </a:pPr>
            <a:r>
              <a:rPr lang="en-US" sz="1800" b="1" dirty="0">
                <a:solidFill>
                  <a:schemeClr val="tx2"/>
                </a:solidFill>
              </a:rPr>
              <a:t>Buka koneksi</a:t>
            </a:r>
            <a:endParaRPr lang="en-US" sz="1800" dirty="0"/>
          </a:p>
        </p:txBody>
      </p:sp>
      <p:sp>
        <p:nvSpPr>
          <p:cNvPr id="5" name="Subjudul buka"/>
          <p:cNvSpPr txBox="1"/>
          <p:nvPr/>
        </p:nvSpPr>
        <p:spPr>
          <a:xfrm>
            <a:off x="640080" y="1463040"/>
            <a:ext cx="3474720" cy="256032"/>
          </a:xfrm>
          <a:prstGeom prst="rect">
            <a:avLst/>
          </a:prstGeom>
          <a:noFill/>
          <a:ln/>
        </p:spPr>
        <p:txBody>
          <a:bodyPr wrap="square" lIns="0" tIns="0" rIns="0" bIns="0" rtlCol="0" anchor="ctr"/>
          <a:lstStyle/>
          <a:p>
            <a:pPr marL="0" indent="0">
              <a:buNone/>
            </a:pPr>
            <a:r>
              <a:rPr lang="en-US" sz="1400" dirty="0">
                <a:solidFill>
                  <a:schemeClr val="accent5"/>
                </a:solidFill>
              </a:rPr>
              <a:t>three-way handshake</a:t>
            </a:r>
            <a:endParaRPr lang="en-US" sz="1400" dirty="0"/>
          </a:p>
        </p:txBody>
      </p:sp>
      <p:sp>
        <p:nvSpPr>
          <p:cNvPr id="6" name="Label client buka"/>
          <p:cNvSpPr txBox="1"/>
          <p:nvPr/>
        </p:nvSpPr>
        <p:spPr>
          <a:xfrm>
            <a:off x="548640" y="1810512"/>
            <a:ext cx="1005840" cy="256032"/>
          </a:xfrm>
          <a:prstGeom prst="rect">
            <a:avLst/>
          </a:prstGeom>
          <a:noFill/>
          <a:ln/>
        </p:spPr>
        <p:txBody>
          <a:bodyPr wrap="square" lIns="0" tIns="0" rIns="0" bIns="0" rtlCol="0" anchor="ctr"/>
          <a:lstStyle/>
          <a:p>
            <a:pPr marL="0" indent="0" algn="ctr">
              <a:buNone/>
            </a:pPr>
            <a:r>
              <a:rPr lang="en-US" sz="1400" b="1" dirty="0">
                <a:solidFill>
                  <a:schemeClr val="accent4"/>
                </a:solidFill>
              </a:rPr>
              <a:t>Client</a:t>
            </a:r>
            <a:endParaRPr lang="en-US" sz="1400" dirty="0"/>
          </a:p>
        </p:txBody>
      </p:sp>
      <p:sp>
        <p:nvSpPr>
          <p:cNvPr id="7" name="Label server buka"/>
          <p:cNvSpPr txBox="1"/>
          <p:nvPr/>
        </p:nvSpPr>
        <p:spPr>
          <a:xfrm>
            <a:off x="3200400" y="1810512"/>
            <a:ext cx="1005840" cy="256032"/>
          </a:xfrm>
          <a:prstGeom prst="rect">
            <a:avLst/>
          </a:prstGeom>
          <a:noFill/>
          <a:ln/>
        </p:spPr>
        <p:txBody>
          <a:bodyPr wrap="square" lIns="0" tIns="0" rIns="0" bIns="0" rtlCol="0" anchor="ctr"/>
          <a:lstStyle/>
          <a:p>
            <a:pPr marL="0" indent="0" algn="ctr">
              <a:buNone/>
            </a:pPr>
            <a:r>
              <a:rPr lang="en-US" sz="1400" b="1" dirty="0">
                <a:solidFill>
                  <a:schemeClr val="accent4"/>
                </a:solidFill>
              </a:rPr>
              <a:t>Server</a:t>
            </a:r>
            <a:endParaRPr lang="en-US" sz="1400" dirty="0"/>
          </a:p>
        </p:txBody>
      </p:sp>
      <p:sp>
        <p:nvSpPr>
          <p:cNvPr id="8" name="Garis client buka"/>
          <p:cNvSpPr/>
          <p:nvPr/>
        </p:nvSpPr>
        <p:spPr>
          <a:xfrm>
            <a:off x="1051560" y="2103120"/>
            <a:ext cx="0" cy="1508760"/>
          </a:xfrm>
          <a:prstGeom prst="line">
            <a:avLst/>
          </a:prstGeom>
          <a:noFill/>
          <a:ln w="15875">
            <a:solidFill>
              <a:schemeClr val="accent5"/>
            </a:solidFill>
            <a:prstDash val="dash"/>
          </a:ln>
        </p:spPr>
        <p:txBody>
          <a:bodyPr/>
          <a:lstStyle/>
          <a:p>
            <a:endParaRPr lang="en-US"/>
          </a:p>
        </p:txBody>
      </p:sp>
      <p:sp>
        <p:nvSpPr>
          <p:cNvPr id="9" name="Garis server buka"/>
          <p:cNvSpPr/>
          <p:nvPr/>
        </p:nvSpPr>
        <p:spPr>
          <a:xfrm>
            <a:off x="3703320" y="2103120"/>
            <a:ext cx="0" cy="1508760"/>
          </a:xfrm>
          <a:prstGeom prst="line">
            <a:avLst/>
          </a:prstGeom>
          <a:noFill/>
          <a:ln w="15875">
            <a:solidFill>
              <a:schemeClr val="accent5"/>
            </a:solidFill>
            <a:prstDash val="dash"/>
          </a:ln>
        </p:spPr>
        <p:txBody>
          <a:bodyPr/>
          <a:lstStyle/>
          <a:p>
            <a:endParaRPr lang="en-US"/>
          </a:p>
        </p:txBody>
      </p:sp>
      <p:sp>
        <p:nvSpPr>
          <p:cNvPr id="10" name="Panah SYN buka"/>
          <p:cNvSpPr/>
          <p:nvPr/>
        </p:nvSpPr>
        <p:spPr>
          <a:xfrm>
            <a:off x="1097280" y="2468880"/>
            <a:ext cx="2560320" cy="0"/>
          </a:xfrm>
          <a:prstGeom prst="line">
            <a:avLst/>
          </a:prstGeom>
          <a:noFill/>
          <a:ln w="25400">
            <a:solidFill>
              <a:schemeClr val="accent1"/>
            </a:solidFill>
            <a:prstDash val="solid"/>
            <a:tailEnd type="triangle"/>
          </a:ln>
        </p:spPr>
        <p:txBody>
          <a:bodyPr/>
          <a:lstStyle/>
          <a:p>
            <a:endParaRPr lang="en-US"/>
          </a:p>
        </p:txBody>
      </p:sp>
      <p:sp>
        <p:nvSpPr>
          <p:cNvPr id="11" name="Label SYN buka"/>
          <p:cNvSpPr txBox="1"/>
          <p:nvPr/>
        </p:nvSpPr>
        <p:spPr>
          <a:xfrm>
            <a:off x="1051560" y="2194560"/>
            <a:ext cx="2651760" cy="246888"/>
          </a:xfrm>
          <a:prstGeom prst="rect">
            <a:avLst/>
          </a:prstGeom>
          <a:noFill/>
          <a:ln/>
        </p:spPr>
        <p:txBody>
          <a:bodyPr wrap="square" lIns="0" tIns="0" rIns="0" bIns="0" rtlCol="0" anchor="ctr"/>
          <a:lstStyle/>
          <a:p>
            <a:pPr marL="0" indent="0" algn="ctr">
              <a:buNone/>
            </a:pPr>
            <a:r>
              <a:rPr lang="en-US" sz="1400" b="1" dirty="0">
                <a:solidFill>
                  <a:schemeClr val="tx2"/>
                </a:solidFill>
              </a:rPr>
              <a:t>SYN</a:t>
            </a:r>
            <a:endParaRPr lang="en-US" sz="1400" dirty="0"/>
          </a:p>
        </p:txBody>
      </p:sp>
      <p:sp>
        <p:nvSpPr>
          <p:cNvPr id="12" name="Panah SYN-ACK buka"/>
          <p:cNvSpPr/>
          <p:nvPr/>
        </p:nvSpPr>
        <p:spPr>
          <a:xfrm flipH="1">
            <a:off x="1097280" y="2926080"/>
            <a:ext cx="2560320" cy="0"/>
          </a:xfrm>
          <a:prstGeom prst="line">
            <a:avLst/>
          </a:prstGeom>
          <a:noFill/>
          <a:ln w="25400">
            <a:solidFill>
              <a:schemeClr val="accent1"/>
            </a:solidFill>
            <a:prstDash val="solid"/>
            <a:tailEnd type="triangle"/>
          </a:ln>
        </p:spPr>
        <p:txBody>
          <a:bodyPr/>
          <a:lstStyle/>
          <a:p>
            <a:endParaRPr lang="en-US"/>
          </a:p>
        </p:txBody>
      </p:sp>
      <p:sp>
        <p:nvSpPr>
          <p:cNvPr id="13" name="Label SYN-ACK buka"/>
          <p:cNvSpPr txBox="1"/>
          <p:nvPr/>
        </p:nvSpPr>
        <p:spPr>
          <a:xfrm>
            <a:off x="1051560" y="2651760"/>
            <a:ext cx="2651760" cy="246888"/>
          </a:xfrm>
          <a:prstGeom prst="rect">
            <a:avLst/>
          </a:prstGeom>
          <a:noFill/>
          <a:ln/>
        </p:spPr>
        <p:txBody>
          <a:bodyPr wrap="square" lIns="0" tIns="0" rIns="0" bIns="0" rtlCol="0" anchor="ctr"/>
          <a:lstStyle/>
          <a:p>
            <a:pPr marL="0" indent="0" algn="ctr">
              <a:buNone/>
            </a:pPr>
            <a:r>
              <a:rPr lang="en-US" sz="1400" b="1" dirty="0">
                <a:solidFill>
                  <a:schemeClr val="tx2"/>
                </a:solidFill>
              </a:rPr>
              <a:t>SYN-ACK</a:t>
            </a:r>
            <a:endParaRPr lang="en-US" sz="1400" dirty="0"/>
          </a:p>
        </p:txBody>
      </p:sp>
      <p:sp>
        <p:nvSpPr>
          <p:cNvPr id="14" name="Panah ACK buka"/>
          <p:cNvSpPr/>
          <p:nvPr/>
        </p:nvSpPr>
        <p:spPr>
          <a:xfrm>
            <a:off x="1097280" y="3383280"/>
            <a:ext cx="2560320" cy="0"/>
          </a:xfrm>
          <a:prstGeom prst="line">
            <a:avLst/>
          </a:prstGeom>
          <a:noFill/>
          <a:ln w="25400">
            <a:solidFill>
              <a:schemeClr val="accent1"/>
            </a:solidFill>
            <a:prstDash val="solid"/>
            <a:tailEnd type="triangle"/>
          </a:ln>
        </p:spPr>
        <p:txBody>
          <a:bodyPr/>
          <a:lstStyle/>
          <a:p>
            <a:endParaRPr lang="en-US"/>
          </a:p>
        </p:txBody>
      </p:sp>
      <p:sp>
        <p:nvSpPr>
          <p:cNvPr id="15" name="Label ACK buka"/>
          <p:cNvSpPr txBox="1"/>
          <p:nvPr/>
        </p:nvSpPr>
        <p:spPr>
          <a:xfrm>
            <a:off x="1051560" y="3108960"/>
            <a:ext cx="2651760" cy="246888"/>
          </a:xfrm>
          <a:prstGeom prst="rect">
            <a:avLst/>
          </a:prstGeom>
          <a:noFill/>
          <a:ln/>
        </p:spPr>
        <p:txBody>
          <a:bodyPr wrap="square" lIns="0" tIns="0" rIns="0" bIns="0" rtlCol="0" anchor="ctr"/>
          <a:lstStyle/>
          <a:p>
            <a:pPr marL="0" indent="0" algn="ctr">
              <a:buNone/>
            </a:pPr>
            <a:r>
              <a:rPr lang="en-US" sz="1400" b="1" dirty="0">
                <a:solidFill>
                  <a:schemeClr val="tx2"/>
                </a:solidFill>
              </a:rPr>
              <a:t>ACK</a:t>
            </a:r>
            <a:endParaRPr lang="en-US" sz="1400" dirty="0"/>
          </a:p>
        </p:txBody>
      </p:sp>
      <p:sp>
        <p:nvSpPr>
          <p:cNvPr id="16" name="Panel tutup"/>
          <p:cNvSpPr/>
          <p:nvPr/>
        </p:nvSpPr>
        <p:spPr>
          <a:xfrm>
            <a:off x="4846320" y="1097280"/>
            <a:ext cx="3840480" cy="2606040"/>
          </a:xfrm>
          <a:prstGeom prst="roundRect">
            <a:avLst>
              <a:gd name="adj" fmla="val 2807"/>
            </a:avLst>
          </a:prstGeom>
          <a:solidFill>
            <a:schemeClr val="bg2"/>
          </a:solidFill>
          <a:ln w="12700">
            <a:solidFill>
              <a:schemeClr val="bg2"/>
            </a:solidFill>
            <a:prstDash val="solid"/>
          </a:ln>
        </p:spPr>
        <p:txBody>
          <a:bodyPr/>
          <a:lstStyle/>
          <a:p>
            <a:endParaRPr lang="en-US"/>
          </a:p>
        </p:txBody>
      </p:sp>
      <p:sp>
        <p:nvSpPr>
          <p:cNvPr id="17" name="Judul tutup"/>
          <p:cNvSpPr txBox="1"/>
          <p:nvPr/>
        </p:nvSpPr>
        <p:spPr>
          <a:xfrm>
            <a:off x="5029200" y="1170432"/>
            <a:ext cx="3474720" cy="292608"/>
          </a:xfrm>
          <a:prstGeom prst="rect">
            <a:avLst/>
          </a:prstGeom>
          <a:noFill/>
          <a:ln/>
        </p:spPr>
        <p:txBody>
          <a:bodyPr wrap="square" lIns="0" tIns="0" rIns="0" bIns="0" rtlCol="0" anchor="ctr"/>
          <a:lstStyle/>
          <a:p>
            <a:pPr marL="0" indent="0">
              <a:buNone/>
            </a:pPr>
            <a:r>
              <a:rPr lang="en-US" sz="1800" b="1" dirty="0">
                <a:solidFill>
                  <a:schemeClr val="tx2"/>
                </a:solidFill>
              </a:rPr>
              <a:t>Tutup koneksi</a:t>
            </a:r>
            <a:endParaRPr lang="en-US" sz="1800" dirty="0"/>
          </a:p>
        </p:txBody>
      </p:sp>
      <p:sp>
        <p:nvSpPr>
          <p:cNvPr id="18" name="Subjudul tutup"/>
          <p:cNvSpPr txBox="1"/>
          <p:nvPr/>
        </p:nvSpPr>
        <p:spPr>
          <a:xfrm>
            <a:off x="5029200" y="1463040"/>
            <a:ext cx="3474720" cy="256032"/>
          </a:xfrm>
          <a:prstGeom prst="rect">
            <a:avLst/>
          </a:prstGeom>
          <a:noFill/>
          <a:ln/>
        </p:spPr>
        <p:txBody>
          <a:bodyPr wrap="square" lIns="0" tIns="0" rIns="0" bIns="0" rtlCol="0" anchor="ctr"/>
          <a:lstStyle/>
          <a:p>
            <a:pPr marL="0" indent="0">
              <a:buNone/>
            </a:pPr>
            <a:r>
              <a:rPr lang="en-US" sz="1400" dirty="0">
                <a:solidFill>
                  <a:schemeClr val="accent5"/>
                </a:solidFill>
              </a:rPr>
              <a:t>four-way handshake</a:t>
            </a:r>
            <a:endParaRPr lang="en-US" sz="1400" dirty="0"/>
          </a:p>
        </p:txBody>
      </p:sp>
      <p:sp>
        <p:nvSpPr>
          <p:cNvPr id="19" name="Label client tutup"/>
          <p:cNvSpPr txBox="1"/>
          <p:nvPr/>
        </p:nvSpPr>
        <p:spPr>
          <a:xfrm>
            <a:off x="4937760" y="1810512"/>
            <a:ext cx="1005840" cy="256032"/>
          </a:xfrm>
          <a:prstGeom prst="rect">
            <a:avLst/>
          </a:prstGeom>
          <a:noFill/>
          <a:ln/>
        </p:spPr>
        <p:txBody>
          <a:bodyPr wrap="square" lIns="0" tIns="0" rIns="0" bIns="0" rtlCol="0" anchor="ctr"/>
          <a:lstStyle/>
          <a:p>
            <a:pPr marL="0" indent="0" algn="ctr">
              <a:buNone/>
            </a:pPr>
            <a:r>
              <a:rPr lang="en-US" sz="1400" b="1" dirty="0">
                <a:solidFill>
                  <a:schemeClr val="accent4"/>
                </a:solidFill>
              </a:rPr>
              <a:t>Client</a:t>
            </a:r>
            <a:endParaRPr lang="en-US" sz="1400" dirty="0"/>
          </a:p>
        </p:txBody>
      </p:sp>
      <p:sp>
        <p:nvSpPr>
          <p:cNvPr id="20" name="Label server tutup"/>
          <p:cNvSpPr txBox="1"/>
          <p:nvPr/>
        </p:nvSpPr>
        <p:spPr>
          <a:xfrm>
            <a:off x="7589520" y="1810512"/>
            <a:ext cx="1005840" cy="256032"/>
          </a:xfrm>
          <a:prstGeom prst="rect">
            <a:avLst/>
          </a:prstGeom>
          <a:noFill/>
          <a:ln/>
        </p:spPr>
        <p:txBody>
          <a:bodyPr wrap="square" lIns="0" tIns="0" rIns="0" bIns="0" rtlCol="0" anchor="ctr"/>
          <a:lstStyle/>
          <a:p>
            <a:pPr marL="0" indent="0" algn="ctr">
              <a:buNone/>
            </a:pPr>
            <a:r>
              <a:rPr lang="en-US" sz="1400" b="1" dirty="0">
                <a:solidFill>
                  <a:schemeClr val="accent4"/>
                </a:solidFill>
              </a:rPr>
              <a:t>Server</a:t>
            </a:r>
            <a:endParaRPr lang="en-US" sz="1400" dirty="0"/>
          </a:p>
        </p:txBody>
      </p:sp>
      <p:sp>
        <p:nvSpPr>
          <p:cNvPr id="21" name="Garis client tutup"/>
          <p:cNvSpPr/>
          <p:nvPr/>
        </p:nvSpPr>
        <p:spPr>
          <a:xfrm>
            <a:off x="5440680" y="2103120"/>
            <a:ext cx="0" cy="1508760"/>
          </a:xfrm>
          <a:prstGeom prst="line">
            <a:avLst/>
          </a:prstGeom>
          <a:noFill/>
          <a:ln w="15875">
            <a:solidFill>
              <a:schemeClr val="accent5"/>
            </a:solidFill>
            <a:prstDash val="dash"/>
          </a:ln>
        </p:spPr>
        <p:txBody>
          <a:bodyPr/>
          <a:lstStyle/>
          <a:p>
            <a:endParaRPr lang="en-US"/>
          </a:p>
        </p:txBody>
      </p:sp>
      <p:sp>
        <p:nvSpPr>
          <p:cNvPr id="22" name="Garis server tutup"/>
          <p:cNvSpPr/>
          <p:nvPr/>
        </p:nvSpPr>
        <p:spPr>
          <a:xfrm>
            <a:off x="8092440" y="2103120"/>
            <a:ext cx="0" cy="1508760"/>
          </a:xfrm>
          <a:prstGeom prst="line">
            <a:avLst/>
          </a:prstGeom>
          <a:noFill/>
          <a:ln w="15875">
            <a:solidFill>
              <a:schemeClr val="accent5"/>
            </a:solidFill>
            <a:prstDash val="dash"/>
          </a:ln>
        </p:spPr>
        <p:txBody>
          <a:bodyPr/>
          <a:lstStyle/>
          <a:p>
            <a:endParaRPr lang="en-US"/>
          </a:p>
        </p:txBody>
      </p:sp>
      <p:sp>
        <p:nvSpPr>
          <p:cNvPr id="23" name="Panah FIN tutup"/>
          <p:cNvSpPr/>
          <p:nvPr/>
        </p:nvSpPr>
        <p:spPr>
          <a:xfrm>
            <a:off x="5486400" y="2423160"/>
            <a:ext cx="2560320" cy="0"/>
          </a:xfrm>
          <a:prstGeom prst="line">
            <a:avLst/>
          </a:prstGeom>
          <a:noFill/>
          <a:ln w="25400">
            <a:solidFill>
              <a:schemeClr val="accent1"/>
            </a:solidFill>
            <a:prstDash val="solid"/>
            <a:tailEnd type="triangle"/>
          </a:ln>
        </p:spPr>
        <p:txBody>
          <a:bodyPr/>
          <a:lstStyle/>
          <a:p>
            <a:endParaRPr lang="en-US"/>
          </a:p>
        </p:txBody>
      </p:sp>
      <p:sp>
        <p:nvSpPr>
          <p:cNvPr id="24" name="Label FIN tutup"/>
          <p:cNvSpPr txBox="1"/>
          <p:nvPr/>
        </p:nvSpPr>
        <p:spPr>
          <a:xfrm>
            <a:off x="5440680" y="2148840"/>
            <a:ext cx="2651760" cy="246888"/>
          </a:xfrm>
          <a:prstGeom prst="rect">
            <a:avLst/>
          </a:prstGeom>
          <a:noFill/>
          <a:ln/>
        </p:spPr>
        <p:txBody>
          <a:bodyPr wrap="square" lIns="0" tIns="0" rIns="0" bIns="0" rtlCol="0" anchor="ctr"/>
          <a:lstStyle/>
          <a:p>
            <a:pPr marL="0" indent="0" algn="ctr">
              <a:buNone/>
            </a:pPr>
            <a:r>
              <a:rPr lang="en-US" sz="1400" b="1" dirty="0">
                <a:solidFill>
                  <a:schemeClr val="tx2"/>
                </a:solidFill>
              </a:rPr>
              <a:t>FIN</a:t>
            </a:r>
            <a:endParaRPr lang="en-US" sz="1400" dirty="0"/>
          </a:p>
        </p:txBody>
      </p:sp>
      <p:sp>
        <p:nvSpPr>
          <p:cNvPr id="25" name="Panah ACK tutup"/>
          <p:cNvSpPr/>
          <p:nvPr/>
        </p:nvSpPr>
        <p:spPr>
          <a:xfrm flipH="1">
            <a:off x="5486400" y="2743200"/>
            <a:ext cx="2560320" cy="0"/>
          </a:xfrm>
          <a:prstGeom prst="line">
            <a:avLst/>
          </a:prstGeom>
          <a:noFill/>
          <a:ln w="25400">
            <a:solidFill>
              <a:schemeClr val="accent1"/>
            </a:solidFill>
            <a:prstDash val="solid"/>
            <a:tailEnd type="triangle"/>
          </a:ln>
        </p:spPr>
        <p:txBody>
          <a:bodyPr/>
          <a:lstStyle/>
          <a:p>
            <a:endParaRPr lang="en-US"/>
          </a:p>
        </p:txBody>
      </p:sp>
      <p:sp>
        <p:nvSpPr>
          <p:cNvPr id="26" name="Label ACK tutup"/>
          <p:cNvSpPr txBox="1"/>
          <p:nvPr/>
        </p:nvSpPr>
        <p:spPr>
          <a:xfrm>
            <a:off x="5440680" y="2468880"/>
            <a:ext cx="2651760" cy="246888"/>
          </a:xfrm>
          <a:prstGeom prst="rect">
            <a:avLst/>
          </a:prstGeom>
          <a:noFill/>
          <a:ln/>
        </p:spPr>
        <p:txBody>
          <a:bodyPr wrap="square" lIns="0" tIns="0" rIns="0" bIns="0" rtlCol="0" anchor="ctr"/>
          <a:lstStyle/>
          <a:p>
            <a:pPr marL="0" indent="0" algn="ctr">
              <a:buNone/>
            </a:pPr>
            <a:r>
              <a:rPr lang="en-US" sz="1400" b="1" dirty="0">
                <a:solidFill>
                  <a:schemeClr val="tx2"/>
                </a:solidFill>
              </a:rPr>
              <a:t>ACK</a:t>
            </a:r>
            <a:endParaRPr lang="en-US" sz="1400" dirty="0"/>
          </a:p>
        </p:txBody>
      </p:sp>
      <p:sp>
        <p:nvSpPr>
          <p:cNvPr id="27" name="Panah FIN tutup"/>
          <p:cNvSpPr/>
          <p:nvPr/>
        </p:nvSpPr>
        <p:spPr>
          <a:xfrm flipH="1">
            <a:off x="5486400" y="3063240"/>
            <a:ext cx="2560320" cy="0"/>
          </a:xfrm>
          <a:prstGeom prst="line">
            <a:avLst/>
          </a:prstGeom>
          <a:noFill/>
          <a:ln w="25400">
            <a:solidFill>
              <a:schemeClr val="accent1"/>
            </a:solidFill>
            <a:prstDash val="solid"/>
            <a:tailEnd type="triangle"/>
          </a:ln>
        </p:spPr>
        <p:txBody>
          <a:bodyPr/>
          <a:lstStyle/>
          <a:p>
            <a:endParaRPr lang="en-US"/>
          </a:p>
        </p:txBody>
      </p:sp>
      <p:sp>
        <p:nvSpPr>
          <p:cNvPr id="28" name="Label FIN tutup"/>
          <p:cNvSpPr txBox="1"/>
          <p:nvPr/>
        </p:nvSpPr>
        <p:spPr>
          <a:xfrm>
            <a:off x="5440680" y="2788920"/>
            <a:ext cx="2651760" cy="246888"/>
          </a:xfrm>
          <a:prstGeom prst="rect">
            <a:avLst/>
          </a:prstGeom>
          <a:noFill/>
          <a:ln/>
        </p:spPr>
        <p:txBody>
          <a:bodyPr wrap="square" lIns="0" tIns="0" rIns="0" bIns="0" rtlCol="0" anchor="ctr"/>
          <a:lstStyle/>
          <a:p>
            <a:pPr marL="0" indent="0" algn="ctr">
              <a:buNone/>
            </a:pPr>
            <a:r>
              <a:rPr lang="en-US" sz="1400" b="1" dirty="0">
                <a:solidFill>
                  <a:schemeClr val="tx2"/>
                </a:solidFill>
              </a:rPr>
              <a:t>FIN</a:t>
            </a:r>
            <a:endParaRPr lang="en-US" sz="1400" dirty="0"/>
          </a:p>
        </p:txBody>
      </p:sp>
      <p:sp>
        <p:nvSpPr>
          <p:cNvPr id="29" name="Panah ACK tutup"/>
          <p:cNvSpPr/>
          <p:nvPr/>
        </p:nvSpPr>
        <p:spPr>
          <a:xfrm>
            <a:off x="5486400" y="3383280"/>
            <a:ext cx="2560320" cy="0"/>
          </a:xfrm>
          <a:prstGeom prst="line">
            <a:avLst/>
          </a:prstGeom>
          <a:noFill/>
          <a:ln w="25400">
            <a:solidFill>
              <a:schemeClr val="accent1"/>
            </a:solidFill>
            <a:prstDash val="solid"/>
            <a:tailEnd type="triangle"/>
          </a:ln>
        </p:spPr>
        <p:txBody>
          <a:bodyPr/>
          <a:lstStyle/>
          <a:p>
            <a:endParaRPr lang="en-US"/>
          </a:p>
        </p:txBody>
      </p:sp>
      <p:sp>
        <p:nvSpPr>
          <p:cNvPr id="30" name="Label ACK tutup"/>
          <p:cNvSpPr txBox="1"/>
          <p:nvPr/>
        </p:nvSpPr>
        <p:spPr>
          <a:xfrm>
            <a:off x="5440680" y="3108960"/>
            <a:ext cx="2651760" cy="246888"/>
          </a:xfrm>
          <a:prstGeom prst="rect">
            <a:avLst/>
          </a:prstGeom>
          <a:noFill/>
          <a:ln/>
        </p:spPr>
        <p:txBody>
          <a:bodyPr wrap="square" lIns="0" tIns="0" rIns="0" bIns="0" rtlCol="0" anchor="ctr"/>
          <a:lstStyle/>
          <a:p>
            <a:pPr marL="0" indent="0" algn="ctr">
              <a:buNone/>
            </a:pPr>
            <a:r>
              <a:rPr lang="en-US" sz="1400" b="1" dirty="0">
                <a:solidFill>
                  <a:schemeClr val="tx2"/>
                </a:solidFill>
              </a:rPr>
              <a:t>ACK</a:t>
            </a:r>
            <a:endParaRPr lang="en-US" sz="1400" dirty="0"/>
          </a:p>
        </p:txBody>
      </p:sp>
      <p:sp>
        <p:nvSpPr>
          <p:cNvPr id="31" name="Catatan handshake"/>
          <p:cNvSpPr txBox="1"/>
          <p:nvPr/>
        </p:nvSpPr>
        <p:spPr>
          <a:xfrm>
            <a:off x="457200" y="3840480"/>
            <a:ext cx="8229600" cy="777240"/>
          </a:xfrm>
          <a:prstGeom prst="roundRect">
            <a:avLst>
              <a:gd name="adj" fmla="val 9412"/>
            </a:avLst>
          </a:prstGeom>
          <a:solidFill>
            <a:schemeClr val="bg1"/>
          </a:solidFill>
          <a:ln w="15875">
            <a:solidFill>
              <a:schemeClr val="accent1"/>
            </a:solidFill>
          </a:ln>
        </p:spPr>
        <p:txBody>
          <a:bodyPr wrap="square" lIns="152400" tIns="152400" rIns="152400" bIns="152400" rtlCol="0" anchor="ctr"/>
          <a:lstStyle/>
          <a:p>
            <a:pPr marL="0" indent="0">
              <a:buNone/>
            </a:pPr>
            <a:r>
              <a:rPr lang="en-US" sz="1400" b="1" dirty="0">
                <a:solidFill>
                  <a:schemeClr val="tx1"/>
                </a:solidFill>
              </a:rPr>
              <a:t>Handshake dikerjakan sistem operasi, bukan baris Python. </a:t>
            </a:r>
            <a:r>
              <a:rPr lang="en-US" sz="1400" dirty="0">
                <a:solidFill>
                  <a:schemeClr val="tx1"/>
                </a:solidFill>
              </a:rPr>
              <a:t>connect() memicu SYN dan menunggu sampai selesai. accept() hanya mengambil koneksi yang sudah jadi dari antrean listen().</a:t>
            </a:r>
            <a:endParaRPr lang="en-US" sz="1400" dirty="0"/>
          </a:p>
        </p:txBody>
      </p:sp>
      <p:sp>
        <p:nvSpPr>
          <p:cNvPr id="32"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Penanganan error</a:t>
            </a:r>
            <a:endParaRPr lang="en-US" sz="3000" dirty="0"/>
          </a:p>
        </p:txBody>
      </p:sp>
      <p:graphicFrame>
        <p:nvGraphicFramePr>
          <p:cNvPr id="9" name="Tabel penanganan error"/>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3401568"/>
        </p:xfrm>
        <a:graphic>
          <a:graphicData uri="http://schemas.openxmlformats.org/drawingml/2006/table">
            <a:tbl>
              <a:tblPr/>
              <a:tblGrid>
                <a:gridCol w="23774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566928">
                <a:tc>
                  <a:txBody>
                    <a:bodyPr/>
                    <a:lstStyle/>
                    <a:p>
                      <a:pPr marL="0" indent="0">
                        <a:buNone/>
                      </a:pPr>
                      <a:r>
                        <a:rPr lang="en-US" sz="1400" b="1" dirty="0">
                          <a:solidFill>
                            <a:schemeClr val="bg1"/>
                          </a:solidFill>
                        </a:rPr>
                        <a:t>Skenario</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marL="0" indent="0">
                        <a:buNone/>
                      </a:pPr>
                      <a:r>
                        <a:rPr lang="en-US" sz="1400" b="1" dirty="0">
                          <a:solidFill>
                            <a:schemeClr val="bg1"/>
                          </a:solidFill>
                        </a:rPr>
                        <a:t>Yang terjadi</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marL="0" indent="0">
                        <a:buNone/>
                      </a:pPr>
                      <a:r>
                        <a:rPr lang="en-US" sz="1400" b="1" dirty="0">
                          <a:solidFill>
                            <a:schemeClr val="bg1"/>
                          </a:solidFill>
                        </a:rPr>
                        <a:t>Penanganan di kode</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extLst>
                  <a:ext uri="{0D108BD9-81ED-4DB2-BD59-A6C34878D82A}">
                    <a16:rowId xmlns:a16="http://schemas.microsoft.com/office/drawing/2014/main" val="10000"/>
                  </a:ext>
                </a:extLst>
              </a:tr>
              <a:tr h="566928">
                <a:tc>
                  <a:txBody>
                    <a:bodyPr/>
                    <a:lstStyle/>
                    <a:p>
                      <a:pPr marL="0" indent="0">
                        <a:buNone/>
                      </a:pPr>
                      <a:r>
                        <a:rPr lang="en-US" sz="1400" dirty="0">
                          <a:solidFill>
                            <a:schemeClr val="tx1"/>
                          </a:solidFill>
                        </a:rPr>
                        <a:t>Server belum jalan atau port salah</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ConnectionRefusedError</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buNone/>
                      </a:pPr>
                      <a:r>
                        <a:rPr lang="en-US" sz="1400" dirty="0">
                          <a:solidFill>
                            <a:schemeClr val="tx1"/>
                          </a:solidFill>
                        </a:rPr>
                        <a:t>Pesan jelas di client, lalu keluar</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extLst>
                  <a:ext uri="{0D108BD9-81ED-4DB2-BD59-A6C34878D82A}">
                    <a16:rowId xmlns:a16="http://schemas.microsoft.com/office/drawing/2014/main" val="10001"/>
                  </a:ext>
                </a:extLst>
              </a:tr>
              <a:tr h="566928">
                <a:tc>
                  <a:txBody>
                    <a:bodyPr/>
                    <a:lstStyle/>
                    <a:p>
                      <a:pPr marL="0" indent="0">
                        <a:buNone/>
                      </a:pPr>
                      <a:r>
                        <a:rPr lang="en-US" sz="1400" dirty="0">
                          <a:solidFill>
                            <a:schemeClr val="tx1"/>
                          </a:solidFill>
                        </a:rPr>
                        <a:t>Server diam</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Timeout 5 detik</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buNone/>
                      </a:pPr>
                      <a:r>
                        <a:rPr lang="en-US" sz="1400" dirty="0">
                          <a:solidFill>
                            <a:schemeClr val="tx1"/>
                          </a:solidFill>
                        </a:rPr>
                        <a:t>settimeout() di client</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extLst>
                  <a:ext uri="{0D108BD9-81ED-4DB2-BD59-A6C34878D82A}">
                    <a16:rowId xmlns:a16="http://schemas.microsoft.com/office/drawing/2014/main" val="10002"/>
                  </a:ext>
                </a:extLst>
              </a:tr>
              <a:tr h="566928">
                <a:tc>
                  <a:txBody>
                    <a:bodyPr/>
                    <a:lstStyle/>
                    <a:p>
                      <a:pPr marL="0" indent="0">
                        <a:buNone/>
                      </a:pPr>
                      <a:r>
                        <a:rPr lang="en-US" sz="1400" dirty="0">
                          <a:solidFill>
                            <a:schemeClr val="tx1"/>
                          </a:solidFill>
                        </a:rPr>
                        <a:t>Client mati mendadak</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ConnectionResetError</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buNone/>
                      </a:pPr>
                      <a:r>
                        <a:rPr lang="en-US" sz="1400" dirty="0">
                          <a:solidFill>
                            <a:schemeClr val="tx1"/>
                          </a:solidFill>
                        </a:rPr>
                        <a:t>Ditangkap, server lanjut menunggu client lain</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extLst>
                  <a:ext uri="{0D108BD9-81ED-4DB2-BD59-A6C34878D82A}">
                    <a16:rowId xmlns:a16="http://schemas.microsoft.com/office/drawing/2014/main" val="10003"/>
                  </a:ext>
                </a:extLst>
              </a:tr>
              <a:tr h="566928">
                <a:tc>
                  <a:txBody>
                    <a:bodyPr/>
                    <a:lstStyle/>
                    <a:p>
                      <a:pPr marL="0" indent="0">
                        <a:buNone/>
                      </a:pPr>
                      <a:r>
                        <a:rPr lang="en-US" sz="1400" dirty="0">
                          <a:solidFill>
                            <a:schemeClr val="tx1"/>
                          </a:solidFill>
                        </a:rPr>
                        <a:t>Client keluar normal</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recv() = b''</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buNone/>
                      </a:pPr>
                      <a:r>
                        <a:rPr lang="en-US" sz="1400" dirty="0">
                          <a:solidFill>
                            <a:schemeClr val="tx1"/>
                          </a:solidFill>
                        </a:rPr>
                        <a:t>if not data: loop berhenti</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extLst>
                  <a:ext uri="{0D108BD9-81ED-4DB2-BD59-A6C34878D82A}">
                    <a16:rowId xmlns:a16="http://schemas.microsoft.com/office/drawing/2014/main" val="10004"/>
                  </a:ext>
                </a:extLst>
              </a:tr>
              <a:tr h="566928">
                <a:tc>
                  <a:txBody>
                    <a:bodyPr/>
                    <a:lstStyle/>
                    <a:p>
                      <a:pPr marL="0" indent="0">
                        <a:buNone/>
                      </a:pPr>
                      <a:r>
                        <a:rPr lang="en-US" sz="1400" dirty="0">
                          <a:solidFill>
                            <a:schemeClr val="tx1"/>
                          </a:solidFill>
                        </a:rPr>
                        <a:t>Port sudah dipakai</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Address already in use</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buNone/>
                      </a:pPr>
                      <a:r>
                        <a:rPr lang="en-US" sz="1400" dirty="0">
                          <a:solidFill>
                            <a:schemeClr val="tx1"/>
                          </a:solidFill>
                        </a:rPr>
                        <a:t>Pesan jelas, SO_REUSEADDR saat restart</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Hasil pengujian</a:t>
            </a:r>
            <a:endParaRPr lang="en-US" sz="3000" dirty="0"/>
          </a:p>
        </p:txBody>
      </p:sp>
      <p:sp>
        <p:nvSpPr>
          <p:cNvPr id="3" name="Label output server"/>
          <p:cNvSpPr txBox="1"/>
          <p:nvPr/>
        </p:nvSpPr>
        <p:spPr>
          <a:xfrm>
            <a:off x="457200" y="1097280"/>
            <a:ext cx="2743200" cy="274320"/>
          </a:xfrm>
          <a:prstGeom prst="rect">
            <a:avLst/>
          </a:prstGeom>
          <a:noFill/>
          <a:ln/>
        </p:spPr>
        <p:txBody>
          <a:bodyPr wrap="square" lIns="0" tIns="0" rIns="0" bIns="0" rtlCol="0" anchor="ctr"/>
          <a:lstStyle/>
          <a:p>
            <a:pPr marL="0" indent="0">
              <a:buNone/>
            </a:pPr>
            <a:r>
              <a:rPr lang="en-US" sz="1400" b="1" dirty="0">
                <a:solidFill>
                  <a:schemeClr val="tx2"/>
                </a:solidFill>
                <a:latin typeface="Courier New" pitchFamily="34" charset="0"/>
                <a:ea typeface="Courier New" pitchFamily="34" charset="-122"/>
                <a:cs typeface="Courier New" pitchFamily="34" charset="-120"/>
              </a:rPr>
              <a:t>server.py</a:t>
            </a:r>
            <a:endParaRPr lang="en-US" sz="1400" dirty="0"/>
          </a:p>
        </p:txBody>
      </p:sp>
      <p:sp>
        <p:nvSpPr>
          <p:cNvPr id="4" name="Label output client"/>
          <p:cNvSpPr txBox="1"/>
          <p:nvPr/>
        </p:nvSpPr>
        <p:spPr>
          <a:xfrm>
            <a:off x="4937760" y="1097280"/>
            <a:ext cx="2743200" cy="274320"/>
          </a:xfrm>
          <a:prstGeom prst="rect">
            <a:avLst/>
          </a:prstGeom>
          <a:noFill/>
          <a:ln/>
        </p:spPr>
        <p:txBody>
          <a:bodyPr wrap="square" lIns="0" tIns="0" rIns="0" bIns="0" rtlCol="0" anchor="ctr"/>
          <a:lstStyle/>
          <a:p>
            <a:pPr marL="0" indent="0">
              <a:buNone/>
            </a:pPr>
            <a:r>
              <a:rPr lang="en-US" sz="1400" b="1" dirty="0">
                <a:solidFill>
                  <a:schemeClr val="tx2"/>
                </a:solidFill>
                <a:latin typeface="Courier New" pitchFamily="34" charset="0"/>
                <a:ea typeface="Courier New" pitchFamily="34" charset="-122"/>
                <a:cs typeface="Courier New" pitchFamily="34" charset="-120"/>
              </a:rPr>
              <a:t>client.py</a:t>
            </a:r>
            <a:endParaRPr lang="en-US" sz="1400" dirty="0"/>
          </a:p>
        </p:txBody>
      </p:sp>
      <p:sp>
        <p:nvSpPr>
          <p:cNvPr id="5" name="Output server (kotak)"/>
          <p:cNvSpPr/>
          <p:nvPr/>
        </p:nvSpPr>
        <p:spPr>
          <a:xfrm>
            <a:off x="457200" y="1417320"/>
            <a:ext cx="4297680" cy="1783080"/>
          </a:xfrm>
          <a:prstGeom prst="roundRect">
            <a:avLst>
              <a:gd name="adj" fmla="val 4103"/>
            </a:avLst>
          </a:prstGeom>
          <a:solidFill>
            <a:schemeClr val="tx2"/>
          </a:solidFill>
          <a:ln w="12700">
            <a:solidFill>
              <a:schemeClr val="tx2"/>
            </a:solidFill>
            <a:prstDash val="solid"/>
          </a:ln>
        </p:spPr>
        <p:txBody>
          <a:bodyPr/>
          <a:lstStyle/>
          <a:p>
            <a:endParaRPr lang="en-US"/>
          </a:p>
        </p:txBody>
      </p:sp>
      <p:sp>
        <p:nvSpPr>
          <p:cNvPr id="6" name="Output server"/>
          <p:cNvSpPr txBox="1"/>
          <p:nvPr/>
        </p:nvSpPr>
        <p:spPr>
          <a:xfrm>
            <a:off x="640080" y="1527048"/>
            <a:ext cx="3931920" cy="1563624"/>
          </a:xfrm>
          <a:prstGeom prst="rect">
            <a:avLst/>
          </a:prstGeom>
          <a:noFill/>
          <a:ln/>
        </p:spPr>
        <p:txBody>
          <a:bodyPr wrap="square" lIns="0" tIns="0" rIns="0" bIns="0" rtlCol="0" anchor="t"/>
          <a:lstStyle/>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Server siap di 127.0.0.1:5000</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Client terhubung: ('127.0.0.1', 38626)</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Dari ('127.0.0.1', 38626): 'halo'</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Dari ('127.0.0.1', 38626): 'saya van'</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('127.0.0.1', 38626) menutup koneksi</a:t>
            </a:r>
            <a:endParaRPr lang="en-US" sz="1200" dirty="0"/>
          </a:p>
        </p:txBody>
      </p:sp>
      <p:sp>
        <p:nvSpPr>
          <p:cNvPr id="7" name="Output client (kotak)"/>
          <p:cNvSpPr/>
          <p:nvPr/>
        </p:nvSpPr>
        <p:spPr>
          <a:xfrm>
            <a:off x="4937760" y="1417320"/>
            <a:ext cx="3749040" cy="1783080"/>
          </a:xfrm>
          <a:prstGeom prst="roundRect">
            <a:avLst>
              <a:gd name="adj" fmla="val 4103"/>
            </a:avLst>
          </a:prstGeom>
          <a:solidFill>
            <a:schemeClr val="tx2"/>
          </a:solidFill>
          <a:ln w="12700">
            <a:solidFill>
              <a:schemeClr val="tx2"/>
            </a:solidFill>
            <a:prstDash val="solid"/>
          </a:ln>
        </p:spPr>
        <p:txBody>
          <a:bodyPr/>
          <a:lstStyle/>
          <a:p>
            <a:endParaRPr lang="en-US"/>
          </a:p>
        </p:txBody>
      </p:sp>
      <p:sp>
        <p:nvSpPr>
          <p:cNvPr id="8" name="Output client"/>
          <p:cNvSpPr txBox="1"/>
          <p:nvPr/>
        </p:nvSpPr>
        <p:spPr>
          <a:xfrm>
            <a:off x="5120640" y="1527048"/>
            <a:ext cx="3383280" cy="1563624"/>
          </a:xfrm>
          <a:prstGeom prst="rect">
            <a:avLst/>
          </a:prstGeom>
          <a:noFill/>
          <a:ln/>
        </p:spPr>
        <p:txBody>
          <a:bodyPr wrap="square" lIns="0" tIns="0" rIns="0" bIns="0" rtlCol="0" anchor="t"/>
          <a:lstStyle/>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Terhubung ke 127.0.0.1:5000</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Pesan: halo</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Balasan: Server menerima: halo</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Pesan: saya van</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Balasan: Server menerima: saya van</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Pesan: exit</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Koneksi ditutup.</a:t>
            </a:r>
            <a:endParaRPr lang="en-US" sz="1200" dirty="0"/>
          </a:p>
        </p:txBody>
      </p:sp>
      <p:sp>
        <p:nvSpPr>
          <p:cNvPr id="9" name="Hasil utama"/>
          <p:cNvSpPr txBox="1"/>
          <p:nvPr/>
        </p:nvSpPr>
        <p:spPr>
          <a:xfrm>
            <a:off x="457200" y="3474720"/>
            <a:ext cx="8229600" cy="457200"/>
          </a:xfrm>
          <a:prstGeom prst="rect">
            <a:avLst/>
          </a:prstGeom>
          <a:noFill/>
          <a:ln/>
        </p:spPr>
        <p:txBody>
          <a:bodyPr wrap="square" lIns="0" tIns="0" rIns="0" bIns="0" rtlCol="0" anchor="t"/>
          <a:lstStyle/>
          <a:p>
            <a:pPr marL="0" indent="0">
              <a:buNone/>
            </a:pPr>
            <a:r>
              <a:rPr lang="en-US" sz="1600" dirty="0">
                <a:solidFill>
                  <a:schemeClr val="tx1"/>
                </a:solidFill>
              </a:rPr>
              <a:t>Setelah client keluar, server tetap hidup dan siap melayani client berikutnya tanpa restart.</a:t>
            </a:r>
            <a:endParaRPr lang="en-US" sz="1600" dirty="0"/>
          </a:p>
        </p:txBody>
      </p:sp>
      <p:sp>
        <p:nvSpPr>
          <p:cNvPr id="10" name="Catatan output"/>
          <p:cNvSpPr txBox="1"/>
          <p:nvPr/>
        </p:nvSpPr>
        <p:spPr>
          <a:xfrm>
            <a:off x="457200" y="4023360"/>
            <a:ext cx="8229600" cy="274320"/>
          </a:xfrm>
          <a:prstGeom prst="rect">
            <a:avLst/>
          </a:prstGeom>
          <a:noFill/>
          <a:ln/>
        </p:spPr>
        <p:txBody>
          <a:bodyPr wrap="square" lIns="0" tIns="0" rIns="0" bIns="0" rtlCol="0" anchor="ctr"/>
          <a:lstStyle/>
          <a:p>
            <a:pPr marL="0" indent="0">
              <a:buNone/>
            </a:pPr>
            <a:r>
              <a:rPr lang="en-US" sz="1200" dirty="0">
                <a:solidFill>
                  <a:schemeClr val="accent5"/>
                </a:solidFill>
              </a:rPr>
              <a:t>Contoh output, disingkat. Timestamp pada log server dihilangkan.</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Temuan menarik dari pengujian</a:t>
            </a:r>
            <a:endParaRPr lang="en-US" sz="3000" dirty="0"/>
          </a:p>
        </p:txBody>
      </p:sp>
      <p:sp>
        <p:nvSpPr>
          <p:cNvPr id="3" name="Kartu temuan 1"/>
          <p:cNvSpPr/>
          <p:nvPr/>
        </p:nvSpPr>
        <p:spPr>
          <a:xfrm>
            <a:off x="457200" y="1234440"/>
            <a:ext cx="2560320" cy="2743200"/>
          </a:xfrm>
          <a:prstGeom prst="roundRect">
            <a:avLst>
              <a:gd name="adj" fmla="val 2857"/>
            </a:avLst>
          </a:prstGeom>
          <a:solidFill>
            <a:schemeClr val="bg2"/>
          </a:solidFill>
          <a:ln w="12700">
            <a:solidFill>
              <a:schemeClr val="bg2"/>
            </a:solidFill>
            <a:prstDash val="solid"/>
          </a:ln>
        </p:spPr>
        <p:txBody>
          <a:bodyPr/>
          <a:lstStyle/>
          <a:p>
            <a:endParaRPr lang="en-US"/>
          </a:p>
        </p:txBody>
      </p:sp>
      <p:sp>
        <p:nvSpPr>
          <p:cNvPr id="4" name="Angka temuan 1"/>
          <p:cNvSpPr txBox="1"/>
          <p:nvPr/>
        </p:nvSpPr>
        <p:spPr>
          <a:xfrm>
            <a:off x="640080" y="1417320"/>
            <a:ext cx="2194560" cy="640080"/>
          </a:xfrm>
          <a:prstGeom prst="rect">
            <a:avLst/>
          </a:prstGeom>
          <a:noFill/>
          <a:ln/>
        </p:spPr>
        <p:txBody>
          <a:bodyPr wrap="square" lIns="0" tIns="0" rIns="0" bIns="0" rtlCol="0" anchor="ctr"/>
          <a:lstStyle/>
          <a:p>
            <a:pPr marL="0" indent="0">
              <a:buNone/>
            </a:pPr>
            <a:r>
              <a:rPr lang="en-US" sz="3000" b="1" dirty="0">
                <a:solidFill>
                  <a:schemeClr val="accent4"/>
                </a:solidFill>
              </a:rPr>
              <a:t>1024 + 476</a:t>
            </a:r>
            <a:endParaRPr lang="en-US" sz="3000" dirty="0"/>
          </a:p>
        </p:txBody>
      </p:sp>
      <p:sp>
        <p:nvSpPr>
          <p:cNvPr id="5" name="Judul temuan 1"/>
          <p:cNvSpPr txBox="1"/>
          <p:nvPr/>
        </p:nvSpPr>
        <p:spPr>
          <a:xfrm>
            <a:off x="640080" y="2148840"/>
            <a:ext cx="2194560" cy="320040"/>
          </a:xfrm>
          <a:prstGeom prst="rect">
            <a:avLst/>
          </a:prstGeom>
          <a:noFill/>
          <a:ln/>
        </p:spPr>
        <p:txBody>
          <a:bodyPr wrap="square" lIns="0" tIns="0" rIns="0" bIns="0" rtlCol="0" anchor="ctr"/>
          <a:lstStyle/>
          <a:p>
            <a:pPr marL="0" indent="0">
              <a:buNone/>
            </a:pPr>
            <a:r>
              <a:rPr lang="en-US" sz="1600" b="1" dirty="0">
                <a:solidFill>
                  <a:schemeClr val="tx2"/>
                </a:solidFill>
              </a:rPr>
              <a:t>Pesan dipotong buffer</a:t>
            </a:r>
            <a:endParaRPr lang="en-US" sz="1600" dirty="0"/>
          </a:p>
        </p:txBody>
      </p:sp>
      <p:sp>
        <p:nvSpPr>
          <p:cNvPr id="6" name="Isi temuan 1"/>
          <p:cNvSpPr txBox="1"/>
          <p:nvPr/>
        </p:nvSpPr>
        <p:spPr>
          <a:xfrm>
            <a:off x="640080" y="2560320"/>
            <a:ext cx="2194560" cy="1280160"/>
          </a:xfrm>
          <a:prstGeom prst="rect">
            <a:avLst/>
          </a:prstGeom>
          <a:noFill/>
          <a:ln/>
        </p:spPr>
        <p:txBody>
          <a:bodyPr wrap="square" lIns="0" tIns="0" rIns="0" bIns="0" rtlCol="0" anchor="t"/>
          <a:lstStyle/>
          <a:p>
            <a:pPr marL="0" indent="0">
              <a:buNone/>
            </a:pPr>
            <a:r>
              <a:rPr lang="en-US" sz="1400" dirty="0">
                <a:solidFill>
                  <a:schemeClr val="tx1"/>
                </a:solidFill>
              </a:rPr>
              <a:t>Pesan 1500 byte dibaca server dalam dua kali recv(), karena buffer hanya 1024 byte.</a:t>
            </a:r>
            <a:endParaRPr lang="en-US" sz="1400" dirty="0"/>
          </a:p>
        </p:txBody>
      </p:sp>
      <p:sp>
        <p:nvSpPr>
          <p:cNvPr id="7" name="Kartu temuan 2"/>
          <p:cNvSpPr/>
          <p:nvPr/>
        </p:nvSpPr>
        <p:spPr>
          <a:xfrm>
            <a:off x="3291840" y="1234440"/>
            <a:ext cx="2560320" cy="2743200"/>
          </a:xfrm>
          <a:prstGeom prst="roundRect">
            <a:avLst>
              <a:gd name="adj" fmla="val 2857"/>
            </a:avLst>
          </a:prstGeom>
          <a:solidFill>
            <a:schemeClr val="bg2"/>
          </a:solidFill>
          <a:ln w="12700">
            <a:solidFill>
              <a:schemeClr val="bg2"/>
            </a:solidFill>
            <a:prstDash val="solid"/>
          </a:ln>
        </p:spPr>
        <p:txBody>
          <a:bodyPr/>
          <a:lstStyle/>
          <a:p>
            <a:endParaRPr lang="en-US"/>
          </a:p>
        </p:txBody>
      </p:sp>
      <p:sp>
        <p:nvSpPr>
          <p:cNvPr id="8" name="Angka temuan 2"/>
          <p:cNvSpPr txBox="1"/>
          <p:nvPr/>
        </p:nvSpPr>
        <p:spPr>
          <a:xfrm>
            <a:off x="3474720" y="1417320"/>
            <a:ext cx="2194560" cy="640080"/>
          </a:xfrm>
          <a:prstGeom prst="rect">
            <a:avLst/>
          </a:prstGeom>
          <a:noFill/>
          <a:ln/>
        </p:spPr>
        <p:txBody>
          <a:bodyPr wrap="square" lIns="0" tIns="0" rIns="0" bIns="0" rtlCol="0" anchor="ctr"/>
          <a:lstStyle/>
          <a:p>
            <a:pPr marL="0" indent="0">
              <a:buNone/>
            </a:pPr>
            <a:r>
              <a:rPr lang="en-US" sz="3000" b="1" dirty="0">
                <a:solidFill>
                  <a:schemeClr val="accent4"/>
                </a:solidFill>
              </a:rPr>
              <a:t>2 → 1</a:t>
            </a:r>
            <a:endParaRPr lang="en-US" sz="3000" dirty="0"/>
          </a:p>
        </p:txBody>
      </p:sp>
      <p:sp>
        <p:nvSpPr>
          <p:cNvPr id="9" name="Judul temuan 2"/>
          <p:cNvSpPr txBox="1"/>
          <p:nvPr/>
        </p:nvSpPr>
        <p:spPr>
          <a:xfrm>
            <a:off x="3474720" y="2148840"/>
            <a:ext cx="2194560" cy="320040"/>
          </a:xfrm>
          <a:prstGeom prst="rect">
            <a:avLst/>
          </a:prstGeom>
          <a:noFill/>
          <a:ln/>
        </p:spPr>
        <p:txBody>
          <a:bodyPr wrap="square" lIns="0" tIns="0" rIns="0" bIns="0" rtlCol="0" anchor="ctr"/>
          <a:lstStyle/>
          <a:p>
            <a:pPr marL="0" indent="0">
              <a:buNone/>
            </a:pPr>
            <a:r>
              <a:rPr lang="en-US" sz="1600" b="1" dirty="0">
                <a:solidFill>
                  <a:schemeClr val="tx2"/>
                </a:solidFill>
              </a:rPr>
              <a:t>Batas pesan hilang</a:t>
            </a:r>
            <a:endParaRPr lang="en-US" sz="1600" dirty="0"/>
          </a:p>
        </p:txBody>
      </p:sp>
      <p:sp>
        <p:nvSpPr>
          <p:cNvPr id="10" name="Isi temuan 2"/>
          <p:cNvSpPr txBox="1"/>
          <p:nvPr/>
        </p:nvSpPr>
        <p:spPr>
          <a:xfrm>
            <a:off x="3474720" y="2560320"/>
            <a:ext cx="2194560" cy="1280160"/>
          </a:xfrm>
          <a:prstGeom prst="rect">
            <a:avLst/>
          </a:prstGeom>
          <a:noFill/>
          <a:ln/>
        </p:spPr>
        <p:txBody>
          <a:bodyPr wrap="square" lIns="0" tIns="0" rIns="0" bIns="0" rtlCol="0" anchor="t"/>
          <a:lstStyle/>
          <a:p>
            <a:pPr marL="0" indent="0">
              <a:buNone/>
            </a:pPr>
            <a:r>
              <a:rPr lang="en-US" sz="1400" dirty="0">
                <a:solidFill>
                  <a:schemeClr val="tx1"/>
                </a:solidFill>
              </a:rPr>
              <a:t>Dua balasan yang dikirim berdekatan sampai ke client dalam satu recv().</a:t>
            </a:r>
            <a:endParaRPr lang="en-US" sz="1400" dirty="0"/>
          </a:p>
        </p:txBody>
      </p:sp>
      <p:sp>
        <p:nvSpPr>
          <p:cNvPr id="11" name="Kartu temuan 3"/>
          <p:cNvSpPr/>
          <p:nvPr/>
        </p:nvSpPr>
        <p:spPr>
          <a:xfrm>
            <a:off x="6126480" y="1234440"/>
            <a:ext cx="2560320" cy="2743200"/>
          </a:xfrm>
          <a:prstGeom prst="roundRect">
            <a:avLst>
              <a:gd name="adj" fmla="val 2857"/>
            </a:avLst>
          </a:prstGeom>
          <a:solidFill>
            <a:schemeClr val="bg2"/>
          </a:solidFill>
          <a:ln w="12700">
            <a:solidFill>
              <a:schemeClr val="bg2"/>
            </a:solidFill>
            <a:prstDash val="solid"/>
          </a:ln>
        </p:spPr>
        <p:txBody>
          <a:bodyPr/>
          <a:lstStyle/>
          <a:p>
            <a:endParaRPr lang="en-US"/>
          </a:p>
        </p:txBody>
      </p:sp>
      <p:sp>
        <p:nvSpPr>
          <p:cNvPr id="12" name="Angka temuan 3"/>
          <p:cNvSpPr txBox="1"/>
          <p:nvPr/>
        </p:nvSpPr>
        <p:spPr>
          <a:xfrm>
            <a:off x="6309360" y="1417320"/>
            <a:ext cx="2194560" cy="640080"/>
          </a:xfrm>
          <a:prstGeom prst="rect">
            <a:avLst/>
          </a:prstGeom>
          <a:noFill/>
          <a:ln/>
        </p:spPr>
        <p:txBody>
          <a:bodyPr wrap="square" lIns="0" tIns="0" rIns="0" bIns="0" rtlCol="0" anchor="ctr"/>
          <a:lstStyle/>
          <a:p>
            <a:pPr marL="0" indent="0">
              <a:buNone/>
            </a:pPr>
            <a:r>
              <a:rPr lang="en-US" sz="3000" b="1" dirty="0">
                <a:solidFill>
                  <a:schemeClr val="accent4"/>
                </a:solidFill>
              </a:rPr>
              <a:t>FIN vs RST</a:t>
            </a:r>
            <a:endParaRPr lang="en-US" sz="3000" dirty="0"/>
          </a:p>
        </p:txBody>
      </p:sp>
      <p:sp>
        <p:nvSpPr>
          <p:cNvPr id="13" name="Judul temuan 3"/>
          <p:cNvSpPr txBox="1"/>
          <p:nvPr/>
        </p:nvSpPr>
        <p:spPr>
          <a:xfrm>
            <a:off x="6309360" y="2148840"/>
            <a:ext cx="2194560" cy="320040"/>
          </a:xfrm>
          <a:prstGeom prst="rect">
            <a:avLst/>
          </a:prstGeom>
          <a:noFill/>
          <a:ln/>
        </p:spPr>
        <p:txBody>
          <a:bodyPr wrap="square" lIns="0" tIns="0" rIns="0" bIns="0" rtlCol="0" anchor="ctr"/>
          <a:lstStyle/>
          <a:p>
            <a:pPr marL="0" indent="0">
              <a:buNone/>
            </a:pPr>
            <a:r>
              <a:rPr lang="en-US" sz="1600" b="1" dirty="0">
                <a:solidFill>
                  <a:schemeClr val="tx2"/>
                </a:solidFill>
              </a:rPr>
              <a:t>Dua cara koneksi putus</a:t>
            </a:r>
            <a:endParaRPr lang="en-US" sz="1600" dirty="0"/>
          </a:p>
        </p:txBody>
      </p:sp>
      <p:sp>
        <p:nvSpPr>
          <p:cNvPr id="14" name="Isi temuan 3"/>
          <p:cNvSpPr txBox="1"/>
          <p:nvPr/>
        </p:nvSpPr>
        <p:spPr>
          <a:xfrm>
            <a:off x="6309360" y="2560320"/>
            <a:ext cx="2194560" cy="1280160"/>
          </a:xfrm>
          <a:prstGeom prst="rect">
            <a:avLst/>
          </a:prstGeom>
          <a:noFill/>
          <a:ln/>
        </p:spPr>
        <p:txBody>
          <a:bodyPr wrap="square" lIns="0" tIns="0" rIns="0" bIns="0" rtlCol="0" anchor="t"/>
          <a:lstStyle/>
          <a:p>
            <a:pPr marL="0" indent="0">
              <a:buNone/>
            </a:pPr>
            <a:r>
              <a:rPr lang="en-US" sz="1400" dirty="0">
                <a:solidFill>
                  <a:schemeClr val="tx1"/>
                </a:solidFill>
              </a:rPr>
              <a:t>Client keluar normal terbaca b''. Client terputus paksa memunculkan ConnectionResetError.</a:t>
            </a:r>
            <a:endParaRPr lang="en-US" sz="1400" dirty="0"/>
          </a:p>
        </p:txBody>
      </p:sp>
      <p:sp>
        <p:nvSpPr>
          <p:cNvPr id="15" name="Catatan temuan"/>
          <p:cNvSpPr txBox="1"/>
          <p:nvPr/>
        </p:nvSpPr>
        <p:spPr>
          <a:xfrm>
            <a:off x="457200" y="4160520"/>
            <a:ext cx="7315200" cy="256032"/>
          </a:xfrm>
          <a:prstGeom prst="rect">
            <a:avLst/>
          </a:prstGeom>
          <a:noFill/>
          <a:ln/>
        </p:spPr>
        <p:txBody>
          <a:bodyPr wrap="square" lIns="0" tIns="0" rIns="0" bIns="0" rtlCol="0" anchor="ctr"/>
          <a:lstStyle/>
          <a:p>
            <a:pPr marL="0" indent="0">
              <a:buNone/>
            </a:pPr>
            <a:r>
              <a:rPr lang="en-US" sz="1200" dirty="0">
                <a:solidFill>
                  <a:schemeClr val="accent5"/>
                </a:solidFill>
              </a:rPr>
              <a:t>Diuji di localhost. Hasil bisa sedikit berbeda antar sistem operasi.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Keterbatasan dan pengembangan</a:t>
            </a:r>
            <a:endParaRPr lang="en-US" sz="3000" dirty="0"/>
          </a:p>
        </p:txBody>
      </p:sp>
      <p:sp>
        <p:nvSpPr>
          <p:cNvPr id="3" name="Kartu Keterbatasan versi ini"/>
          <p:cNvSpPr/>
          <p:nvPr/>
        </p:nvSpPr>
        <p:spPr>
          <a:xfrm>
            <a:off x="457200" y="1234440"/>
            <a:ext cx="3977640" cy="2834640"/>
          </a:xfrm>
          <a:prstGeom prst="roundRect">
            <a:avLst>
              <a:gd name="adj" fmla="val 2581"/>
            </a:avLst>
          </a:prstGeom>
          <a:solidFill>
            <a:schemeClr val="bg2"/>
          </a:solidFill>
          <a:ln w="12700">
            <a:solidFill>
              <a:schemeClr val="bg2"/>
            </a:solidFill>
            <a:prstDash val="solid"/>
          </a:ln>
        </p:spPr>
        <p:txBody>
          <a:bodyPr/>
          <a:lstStyle/>
          <a:p>
            <a:endParaRPr lang="en-US"/>
          </a:p>
        </p:txBody>
      </p:sp>
      <p:sp>
        <p:nvSpPr>
          <p:cNvPr id="4" name="Judul Keterbatasan versi ini"/>
          <p:cNvSpPr txBox="1"/>
          <p:nvPr/>
        </p:nvSpPr>
        <p:spPr>
          <a:xfrm>
            <a:off x="685800" y="1371600"/>
            <a:ext cx="3520440" cy="365760"/>
          </a:xfrm>
          <a:prstGeom prst="rect">
            <a:avLst/>
          </a:prstGeom>
          <a:noFill/>
          <a:ln/>
        </p:spPr>
        <p:txBody>
          <a:bodyPr wrap="square" lIns="0" tIns="0" rIns="0" bIns="0" rtlCol="0" anchor="ctr"/>
          <a:lstStyle/>
          <a:p>
            <a:pPr marL="0" indent="0">
              <a:buNone/>
            </a:pPr>
            <a:r>
              <a:rPr lang="en-US" sz="1800" b="1" dirty="0">
                <a:solidFill>
                  <a:schemeClr val="tx2"/>
                </a:solidFill>
              </a:rPr>
              <a:t>Keterbatasan versi ini</a:t>
            </a:r>
            <a:endParaRPr lang="en-US" sz="1800" dirty="0"/>
          </a:p>
        </p:txBody>
      </p:sp>
      <p:sp>
        <p:nvSpPr>
          <p:cNvPr id="5" name="Isi Keterbatasan versi ini"/>
          <p:cNvSpPr txBox="1"/>
          <p:nvPr/>
        </p:nvSpPr>
        <p:spPr>
          <a:xfrm>
            <a:off x="685800" y="1874520"/>
            <a:ext cx="352044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Melayani satu client dalam satu waktu</a:t>
            </a:r>
            <a:endParaRPr lang="en-US" sz="1600" dirty="0"/>
          </a:p>
          <a:p>
            <a:pPr marL="342900" indent="-342900">
              <a:spcAft>
                <a:spcPts val="1000"/>
              </a:spcAft>
              <a:buSzPct val="100000"/>
              <a:buChar char="•"/>
            </a:pPr>
            <a:r>
              <a:rPr lang="en-US" sz="1600" dirty="0">
                <a:solidFill>
                  <a:schemeClr val="tx1"/>
                </a:solidFill>
              </a:rPr>
              <a:t>accept() dan recv() bersifat blocking, client lain menunggu di antrean</a:t>
            </a:r>
            <a:endParaRPr lang="en-US" sz="1600" dirty="0"/>
          </a:p>
          <a:p>
            <a:pPr marL="342900" indent="-342900">
              <a:spcAft>
                <a:spcPts val="1000"/>
              </a:spcAft>
              <a:buSzPct val="100000"/>
              <a:buChar char="•"/>
            </a:pPr>
            <a:r>
              <a:rPr lang="en-US" sz="1600" dirty="0">
                <a:solidFill>
                  <a:schemeClr val="tx1"/>
                </a:solidFill>
              </a:rPr>
              <a:t>Belum ada aturan batas pesan</a:t>
            </a:r>
            <a:endParaRPr lang="en-US" sz="1600" dirty="0"/>
          </a:p>
        </p:txBody>
      </p:sp>
      <p:sp>
        <p:nvSpPr>
          <p:cNvPr id="6" name="Kartu Kalau dikembangkan"/>
          <p:cNvSpPr/>
          <p:nvPr/>
        </p:nvSpPr>
        <p:spPr>
          <a:xfrm>
            <a:off x="4709160" y="1234440"/>
            <a:ext cx="3977640" cy="2834640"/>
          </a:xfrm>
          <a:prstGeom prst="roundRect">
            <a:avLst>
              <a:gd name="adj" fmla="val 2581"/>
            </a:avLst>
          </a:prstGeom>
          <a:solidFill>
            <a:schemeClr val="bg1"/>
          </a:solidFill>
          <a:ln w="15875">
            <a:solidFill>
              <a:schemeClr val="accent1"/>
            </a:solidFill>
            <a:prstDash val="solid"/>
          </a:ln>
        </p:spPr>
        <p:txBody>
          <a:bodyPr/>
          <a:lstStyle/>
          <a:p>
            <a:endParaRPr lang="en-US"/>
          </a:p>
        </p:txBody>
      </p:sp>
      <p:sp>
        <p:nvSpPr>
          <p:cNvPr id="7" name="Judul Kalau dikembangkan"/>
          <p:cNvSpPr txBox="1"/>
          <p:nvPr/>
        </p:nvSpPr>
        <p:spPr>
          <a:xfrm>
            <a:off x="4937760" y="1371600"/>
            <a:ext cx="3520440" cy="365760"/>
          </a:xfrm>
          <a:prstGeom prst="rect">
            <a:avLst/>
          </a:prstGeom>
          <a:noFill/>
          <a:ln/>
        </p:spPr>
        <p:txBody>
          <a:bodyPr wrap="square" lIns="0" tIns="0" rIns="0" bIns="0" rtlCol="0" anchor="ctr"/>
          <a:lstStyle/>
          <a:p>
            <a:pPr marL="0" indent="0">
              <a:buNone/>
            </a:pPr>
            <a:r>
              <a:rPr lang="en-US" sz="1800" b="1" dirty="0">
                <a:solidFill>
                  <a:schemeClr val="tx2"/>
                </a:solidFill>
              </a:rPr>
              <a:t>Kalau dikembangkan</a:t>
            </a:r>
            <a:endParaRPr lang="en-US" sz="1800" dirty="0"/>
          </a:p>
        </p:txBody>
      </p:sp>
      <p:sp>
        <p:nvSpPr>
          <p:cNvPr id="8" name="Isi Kalau dikembangkan"/>
          <p:cNvSpPr txBox="1"/>
          <p:nvPr/>
        </p:nvSpPr>
        <p:spPr>
          <a:xfrm>
            <a:off x="4937760" y="1874520"/>
            <a:ext cx="352044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Banyak client sekaligus dengan threading</a:t>
            </a:r>
            <a:endParaRPr lang="en-US" sz="1600" dirty="0"/>
          </a:p>
          <a:p>
            <a:pPr marL="342900" indent="-342900">
              <a:spcAft>
                <a:spcPts val="1000"/>
              </a:spcAft>
              <a:buSzPct val="100000"/>
              <a:buChar char="•"/>
            </a:pPr>
            <a:r>
              <a:rPr lang="en-US" sz="1600" dirty="0">
                <a:solidFill>
                  <a:schemeClr val="tx1"/>
                </a:solidFill>
              </a:rPr>
              <a:t>Message framing: pesan diakhiri newline atau diawali panjang pesan</a:t>
            </a:r>
            <a:endParaRPr lang="en-US" sz="1600" dirty="0"/>
          </a:p>
          <a:p>
            <a:pPr marL="342900" indent="-342900">
              <a:spcAft>
                <a:spcPts val="1000"/>
              </a:spcAft>
              <a:buSzPct val="100000"/>
              <a:buChar char="•"/>
            </a:pPr>
            <a:r>
              <a:rPr lang="en-US" sz="1600" dirty="0">
                <a:solidFill>
                  <a:schemeClr val="tx1"/>
                </a:solidFill>
              </a:rPr>
              <a:t>Logging menggantikan print</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bg1"/>
                </a:solidFill>
              </a:rPr>
              <a:t>Kesimpulan</a:t>
            </a:r>
            <a:endParaRPr lang="en-US" sz="3000" dirty="0"/>
          </a:p>
        </p:txBody>
      </p:sp>
      <p:sp>
        <p:nvSpPr>
          <p:cNvPr id="3" name="Nomor 1"/>
          <p:cNvSpPr txBox="1"/>
          <p:nvPr/>
        </p:nvSpPr>
        <p:spPr>
          <a:xfrm>
            <a:off x="548640" y="128016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tx2"/>
                </a:solidFill>
              </a:rPr>
              <a:t>1</a:t>
            </a:r>
            <a:endParaRPr lang="en-US" sz="1800" dirty="0"/>
          </a:p>
        </p:txBody>
      </p:sp>
      <p:sp>
        <p:nvSpPr>
          <p:cNvPr id="4" name="Poin kesimpulan 1"/>
          <p:cNvSpPr txBox="1"/>
          <p:nvPr/>
        </p:nvSpPr>
        <p:spPr>
          <a:xfrm>
            <a:off x="1371600" y="1234440"/>
            <a:ext cx="7223760" cy="640080"/>
          </a:xfrm>
          <a:prstGeom prst="rect">
            <a:avLst/>
          </a:prstGeom>
          <a:noFill/>
          <a:ln/>
        </p:spPr>
        <p:txBody>
          <a:bodyPr wrap="square" lIns="0" tIns="0" rIns="0" bIns="0" rtlCol="0" anchor="ctr"/>
          <a:lstStyle/>
          <a:p>
            <a:pPr marL="0" indent="0">
              <a:buNone/>
            </a:pPr>
            <a:r>
              <a:rPr lang="en-US" sz="1800" dirty="0">
                <a:solidFill>
                  <a:schemeClr val="bg1"/>
                </a:solidFill>
              </a:rPr>
              <a:t>Server memakai socket, bind, listen, dan accept. Client cukup memakai connect.</a:t>
            </a:r>
            <a:endParaRPr lang="en-US" sz="1800" dirty="0"/>
          </a:p>
        </p:txBody>
      </p:sp>
      <p:sp>
        <p:nvSpPr>
          <p:cNvPr id="5" name="Nomor 2"/>
          <p:cNvSpPr txBox="1"/>
          <p:nvPr/>
        </p:nvSpPr>
        <p:spPr>
          <a:xfrm>
            <a:off x="548640" y="214884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tx2"/>
                </a:solidFill>
              </a:rPr>
              <a:t>2</a:t>
            </a:r>
            <a:endParaRPr lang="en-US" sz="1800" dirty="0"/>
          </a:p>
        </p:txBody>
      </p:sp>
      <p:sp>
        <p:nvSpPr>
          <p:cNvPr id="6" name="Poin kesimpulan 2"/>
          <p:cNvSpPr txBox="1"/>
          <p:nvPr/>
        </p:nvSpPr>
        <p:spPr>
          <a:xfrm>
            <a:off x="1371600" y="2103120"/>
            <a:ext cx="7223760" cy="640080"/>
          </a:xfrm>
          <a:prstGeom prst="rect">
            <a:avLst/>
          </a:prstGeom>
          <a:noFill/>
          <a:ln/>
        </p:spPr>
        <p:txBody>
          <a:bodyPr wrap="square" lIns="0" tIns="0" rIns="0" bIns="0" rtlCol="0" anchor="ctr"/>
          <a:lstStyle/>
          <a:p>
            <a:pPr marL="0" indent="0">
              <a:buNone/>
            </a:pPr>
            <a:r>
              <a:rPr lang="en-US" sz="1800" dirty="0">
                <a:solidFill>
                  <a:schemeClr val="bg1"/>
                </a:solidFill>
              </a:rPr>
              <a:t>Data TCP berupa bytes yang mengalir tanpa batas pesan yang jelas.</a:t>
            </a:r>
            <a:endParaRPr lang="en-US" sz="1800" dirty="0"/>
          </a:p>
        </p:txBody>
      </p:sp>
      <p:sp>
        <p:nvSpPr>
          <p:cNvPr id="7" name="Nomor 3"/>
          <p:cNvSpPr txBox="1"/>
          <p:nvPr/>
        </p:nvSpPr>
        <p:spPr>
          <a:xfrm>
            <a:off x="548640" y="301752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tx2"/>
                </a:solidFill>
              </a:rPr>
              <a:t>3</a:t>
            </a:r>
            <a:endParaRPr lang="en-US" sz="1800" dirty="0"/>
          </a:p>
        </p:txBody>
      </p:sp>
      <p:sp>
        <p:nvSpPr>
          <p:cNvPr id="8" name="Poin kesimpulan 3"/>
          <p:cNvSpPr txBox="1"/>
          <p:nvPr/>
        </p:nvSpPr>
        <p:spPr>
          <a:xfrm>
            <a:off x="1371600" y="2971800"/>
            <a:ext cx="7223760" cy="640080"/>
          </a:xfrm>
          <a:prstGeom prst="rect">
            <a:avLst/>
          </a:prstGeom>
          <a:noFill/>
          <a:ln/>
        </p:spPr>
        <p:txBody>
          <a:bodyPr wrap="square" lIns="0" tIns="0" rIns="0" bIns="0" rtlCol="0" anchor="ctr"/>
          <a:lstStyle/>
          <a:p>
            <a:pPr marL="0" indent="0">
              <a:buNone/>
            </a:pPr>
            <a:r>
              <a:rPr lang="en-US" sz="1800" dirty="0">
                <a:solidFill>
                  <a:schemeClr val="bg1"/>
                </a:solidFill>
              </a:rPr>
              <a:t>Error koneksi perlu ditangani supaya program tidak berhenti mendadak.</a:t>
            </a:r>
            <a:endParaRPr lang="en-US" sz="1800" dirty="0"/>
          </a:p>
        </p:txBody>
      </p:sp>
      <p:sp>
        <p:nvSpPr>
          <p:cNvPr id="9" name="Penutup"/>
          <p:cNvSpPr txBox="1"/>
          <p:nvPr/>
        </p:nvSpPr>
        <p:spPr>
          <a:xfrm>
            <a:off x="548640" y="4114800"/>
            <a:ext cx="7772400" cy="457200"/>
          </a:xfrm>
          <a:prstGeom prst="rect">
            <a:avLst/>
          </a:prstGeom>
          <a:noFill/>
          <a:ln/>
        </p:spPr>
        <p:txBody>
          <a:bodyPr wrap="square" lIns="0" tIns="0" rIns="0" bIns="0" rtlCol="0" anchor="ctr"/>
          <a:lstStyle/>
          <a:p>
            <a:pPr marL="0" indent="0">
              <a:buNone/>
            </a:pPr>
            <a:r>
              <a:rPr lang="en-US" sz="2400" b="1" dirty="0">
                <a:solidFill>
                  <a:schemeClr val="accent6"/>
                </a:solidFill>
              </a:rPr>
              <a:t>Terima kasih. Ada pertanyaan?</a:t>
            </a:r>
            <a:endParaRPr lang="en-US" sz="2400" dirty="0"/>
          </a:p>
        </p:txBody>
      </p:sp>
    </p:spTree>
  </p:cSld>
  <p:clrMapOvr>
    <a:masterClrMapping/>
  </p:clrMapOvr>
</p:sld>
</file>

<file path=ppt/theme/theme1.xml><?xml version="1.0" encoding="utf-8"?>
<a:theme xmlns:a="http://schemas.openxmlformats.org/drawingml/2006/main" name="Praktikum Jaringan">
  <a:themeElements>
    <a:clrScheme name="Praktikum Jaringan">
      <a:dk1>
        <a:srgbClr val="1B2A41"/>
      </a:dk1>
      <a:lt1>
        <a:srgbClr val="FFFFFF"/>
      </a:lt1>
      <a:dk2>
        <a:srgbClr val="0B2545"/>
      </a:dk2>
      <a:lt2>
        <a:srgbClr val="EEF3F8"/>
      </a:lt2>
      <a:accent1>
        <a:srgbClr val="0E9AA7"/>
      </a:accent1>
      <a:accent2>
        <a:srgbClr val="F2A541"/>
      </a:accent2>
      <a:accent3>
        <a:srgbClr val="D64933"/>
      </a:accent3>
      <a:accent4>
        <a:srgbClr val="2F5F96"/>
      </a:accent4>
      <a:accent5>
        <a:srgbClr val="5B6B7F"/>
      </a:accent5>
      <a:accent6>
        <a:srgbClr val="A9C0D9"/>
      </a:accent6>
      <a:hlink>
        <a:srgbClr val="0E9AA7"/>
      </a:hlink>
      <a:folHlink>
        <a:srgbClr val="5B6B7F"/>
      </a:folHlink>
    </a:clrScheme>
    <a:fontScheme name="Praktikum Jaringa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AE613D1-0CE7-4B28-A8BF-D6018CD2F261}">
  <we:reference id="WA200010001" version="1.0.0.1" store="Omex" storeType="OMEX"/>
  <we:alternateReferences>
    <we:reference id="WA200010001" version="1.0.0.1" store="WA200010001" storeType="OMEX"/>
  </we:alternateReferences>
  <we:properties>
    <we:property name="claude.fileId" value="&quot;8e4c8f02-6ac7-4bd9-a31a-a94c012ba7b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1438</TotalTime>
  <Words>1485</Words>
  <Application>Microsoft Office PowerPoint</Application>
  <PresentationFormat>On-screen Show (16:9)</PresentationFormat>
  <Paragraphs>195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Courier New</vt:lpstr>
      <vt:lpstr>Praktikum Jaringan</vt:lpstr>
      <vt:lpstr>Praktikum 1: TCP Client-Server Sederhana</vt:lpstr>
      <vt:lpstr>Apa yang dikerjakan</vt:lpstr>
      <vt:lpstr>Konsep dasar yang dipakai</vt:lpstr>
      <vt:lpstr>Alur komunikasi client dan server</vt:lpstr>
      <vt:lpstr>Membuat socket di sisi server</vt:lpstr>
      <vt:lpstr>Transfer data: dari string ke bytes</vt:lpstr>
      <vt:lpstr>Membuka dan menutup koneksi TCP</vt:lpstr>
      <vt:lpstr>Penanganan error</vt:lpstr>
      <vt:lpstr>Hasil pengujian</vt:lpstr>
      <vt:lpstr>Temuan menarik dari pengujian</vt:lpstr>
      <vt:lpstr>Keterbatasan dan pengembangan</vt:lpstr>
      <vt:lpstr>Kesimpulan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Praktikum 1: TCP Client-Server Sederhana</dc:title>
  <dc:subject>PptxGenJS Presentation</dc:subject>
  <dc:creator>Van Jouvi</dc:creator>
  <cp:lastModifiedBy>djooveaztking</cp:lastModifiedBy>
  <cp:revision>2</cp:revision>
  <dcterms:created xsi:type="dcterms:W3CDTF">2026-10-06T15:09:10Z</dcterms:created>
  <dcterms:modified xsi:type="dcterms:W3CDTF">2026-10-07T15:10:37Z</dcterms:modified>
</cp:coreProperties>
</file>